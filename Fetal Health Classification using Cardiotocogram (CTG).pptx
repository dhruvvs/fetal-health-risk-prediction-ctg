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2" r:id="rId6"/>
    <p:sldId id="263" r:id="rId7"/>
    <p:sldId id="266" r:id="rId8"/>
    <p:sldId id="265" r:id="rId9"/>
    <p:sldId id="277" r:id="rId10"/>
    <p:sldId id="267" r:id="rId11"/>
    <p:sldId id="271" r:id="rId12"/>
    <p:sldId id="272" r:id="rId13"/>
    <p:sldId id="276" r:id="rId14"/>
    <p:sldId id="268" r:id="rId15"/>
    <p:sldId id="269" r:id="rId16"/>
    <p:sldId id="270" r:id="rId17"/>
    <p:sldId id="275"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6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dirty="0"/>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5/3/2025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5/3/2025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sz="3600" b="1" dirty="0" err="1">
                <a:latin typeface="Times New Roman" panose="02020603050405020304" pitchFamily="18" charset="0"/>
                <a:cs typeface="Times New Roman" panose="02020603050405020304" pitchFamily="18" charset="0"/>
              </a:rPr>
              <a:t>Fetal</a:t>
            </a:r>
            <a:r>
              <a:rPr lang="en-IN" sz="3600" b="1" dirty="0">
                <a:latin typeface="Times New Roman" panose="02020603050405020304" pitchFamily="18" charset="0"/>
                <a:cs typeface="Times New Roman" panose="02020603050405020304" pitchFamily="18" charset="0"/>
              </a:rPr>
              <a:t> Health Classification using </a:t>
            </a:r>
            <a:r>
              <a:rPr lang="en-IN" sz="3600" b="1" dirty="0" err="1">
                <a:latin typeface="Times New Roman" panose="02020603050405020304" pitchFamily="18" charset="0"/>
                <a:cs typeface="Times New Roman" panose="02020603050405020304" pitchFamily="18" charset="0"/>
              </a:rPr>
              <a:t>Cardiotocogram</a:t>
            </a:r>
            <a:r>
              <a:rPr lang="en-IN" sz="3600" b="1" dirty="0">
                <a:latin typeface="Times New Roman" panose="02020603050405020304" pitchFamily="18" charset="0"/>
                <a:cs typeface="Times New Roman" panose="02020603050405020304" pitchFamily="18" charset="0"/>
              </a:rPr>
              <a:t> (CTG) </a:t>
            </a:r>
            <a:r>
              <a:rPr lang="en-IN" sz="3600" b="1" dirty="0" smtClean="0">
                <a:latin typeface="Times New Roman" panose="02020603050405020304" pitchFamily="18" charset="0"/>
                <a:cs typeface="Times New Roman" panose="02020603050405020304" pitchFamily="18" charset="0"/>
              </a:rPr>
              <a:t>Data</a:t>
            </a:r>
            <a:endParaRPr lang="en-IN" sz="36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lnSpcReduction="10000"/>
          </a:bodyPr>
          <a:lstStyle/>
          <a:p>
            <a:r>
              <a:rPr lang="en-IN" b="1" dirty="0"/>
              <a:t>Course &amp; Section No:-</a:t>
            </a:r>
            <a:r>
              <a:rPr lang="en-IN" dirty="0"/>
              <a:t> Data </a:t>
            </a:r>
            <a:r>
              <a:rPr lang="en-IN" dirty="0" smtClean="0"/>
              <a:t>Mining(CS634002</a:t>
            </a:r>
          </a:p>
          <a:p>
            <a:r>
              <a:rPr lang="en-IN" b="1" dirty="0" smtClean="0"/>
              <a:t>By</a:t>
            </a:r>
            <a:r>
              <a:rPr lang="en-IN" b="1" dirty="0"/>
              <a:t>:-</a:t>
            </a:r>
            <a:r>
              <a:rPr lang="en-IN" dirty="0"/>
              <a:t> Dhruv Patel(dp972)(</a:t>
            </a:r>
            <a:r>
              <a:rPr lang="en-IN" dirty="0" smtClean="0"/>
              <a:t>dp972@njit.edu)</a:t>
            </a:r>
          </a:p>
          <a:p>
            <a:r>
              <a:rPr lang="en-IN" b="1" u="sng" dirty="0" smtClean="0"/>
              <a:t>Submitted </a:t>
            </a:r>
            <a:r>
              <a:rPr lang="en-IN" b="1" u="sng" dirty="0"/>
              <a:t>To: Professor </a:t>
            </a:r>
            <a:r>
              <a:rPr lang="en-IN" b="1" u="sng" dirty="0" err="1"/>
              <a:t>Senjuti</a:t>
            </a:r>
            <a:r>
              <a:rPr lang="en-IN" b="1" u="sng" dirty="0"/>
              <a:t> </a:t>
            </a:r>
            <a:r>
              <a:rPr lang="en-IN" b="1" u="sng" dirty="0" err="1"/>
              <a:t>Basu</a:t>
            </a:r>
            <a:r>
              <a:rPr lang="en-IN" b="1" u="sng" dirty="0"/>
              <a:t> Roy</a:t>
            </a:r>
            <a:endParaRPr lang="en-IN" dirty="0"/>
          </a:p>
          <a:p>
            <a:endParaRPr lang="en-IN" dirty="0"/>
          </a:p>
        </p:txBody>
      </p:sp>
    </p:spTree>
    <p:extLst>
      <p:ext uri="{BB962C8B-B14F-4D97-AF65-F5344CB8AC3E}">
        <p14:creationId xmlns:p14="http://schemas.microsoft.com/office/powerpoint/2010/main" val="35938562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latin typeface="Times New Roman" panose="02020603050405020304" pitchFamily="18" charset="0"/>
                <a:cs typeface="Times New Roman" panose="02020603050405020304" pitchFamily="18" charset="0"/>
              </a:rPr>
              <a:t>Problem Statement</a:t>
            </a:r>
            <a:endParaRPr lang="en-IN" sz="7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95401" y="2556931"/>
            <a:ext cx="9601196" cy="3731726"/>
          </a:xfrm>
        </p:spPr>
        <p:txBody>
          <a:bodyPr>
            <a:normAutofit fontScale="47500" lnSpcReduction="20000"/>
          </a:bodyPr>
          <a:lstStyle/>
          <a:p>
            <a:r>
              <a:rPr lang="en-US" sz="3400" dirty="0">
                <a:latin typeface="Times New Roman" panose="02020603050405020304" pitchFamily="18" charset="0"/>
                <a:cs typeface="Times New Roman" panose="02020603050405020304" pitchFamily="18" charset="0"/>
              </a:rPr>
              <a:t>Maternal and child mortality remain significant global health challenges, particularly in low-resource settings. According to the World Health Organization, an estimated 295,000 women died in 2017 due to complications related to pregnancy and childbirth, with 94% of these deaths occurring in developing regions. Similarly, the United Nations Sustainable Development Goals (SDGs) emphasize reducing under-5 child mortality to fewer than 25 deaths per 1,000 live births by 2030. A key factor in achieving these targets is the early and accurate assessment of fetal health to allow timely medical intervention.</a:t>
            </a:r>
          </a:p>
          <a:p>
            <a:r>
              <a:rPr lang="en-US" sz="3400" dirty="0" err="1">
                <a:latin typeface="Times New Roman" panose="02020603050405020304" pitchFamily="18" charset="0"/>
                <a:cs typeface="Times New Roman" panose="02020603050405020304" pitchFamily="18" charset="0"/>
              </a:rPr>
              <a:t>Cardiotocograms</a:t>
            </a:r>
            <a:r>
              <a:rPr lang="en-US" sz="3400" dirty="0">
                <a:latin typeface="Times New Roman" panose="02020603050405020304" pitchFamily="18" charset="0"/>
                <a:cs typeface="Times New Roman" panose="02020603050405020304" pitchFamily="18" charset="0"/>
              </a:rPr>
              <a:t> (CTGs) provide a low-cost, non-invasive method to monitor fetal well-being by capturing essential parameters such as fetal heart rate (FHR), uterine contractions, and fetal movements. However, interpreting CTG data manually can be subjective and prone to errors, particularly in resource-constrained environments with limited access to trained specialists.</a:t>
            </a:r>
          </a:p>
          <a:p>
            <a:r>
              <a:rPr lang="en-US" sz="3400" dirty="0">
                <a:latin typeface="Times New Roman" panose="02020603050405020304" pitchFamily="18" charset="0"/>
                <a:cs typeface="Times New Roman" panose="02020603050405020304" pitchFamily="18" charset="0"/>
              </a:rPr>
              <a:t>This project aims to develop an intelligent machine learning model to classify fetal health conditions—Normal, Suspect, or Pathological—based on features derived from CTG data. Automating this classification process enhances diagnostic accuracy, supports timely medical decisions, and ultimately contributes to reducing preventable maternal and neonatal deaths. This work aligns with global health goals by leveraging data science to drive impactful clinical outcomes.</a:t>
            </a:r>
          </a:p>
          <a:p>
            <a:endParaRPr lang="en-IN" dirty="0"/>
          </a:p>
        </p:txBody>
      </p:sp>
    </p:spTree>
    <p:extLst>
      <p:ext uri="{BB962C8B-B14F-4D97-AF65-F5344CB8AC3E}">
        <p14:creationId xmlns:p14="http://schemas.microsoft.com/office/powerpoint/2010/main" val="23324832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dirty="0" smtClean="0">
                <a:latin typeface="Times New Roman" panose="02020603050405020304" pitchFamily="18" charset="0"/>
                <a:cs typeface="Times New Roman" panose="02020603050405020304" pitchFamily="18" charset="0"/>
              </a:rPr>
              <a:t>Data Mining Task</a:t>
            </a:r>
            <a:endParaRPr lang="en-IN" sz="6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95401" y="2475781"/>
            <a:ext cx="9601197" cy="3726611"/>
          </a:xfrm>
        </p:spPr>
        <p:txBody>
          <a:bodyPr>
            <a:normAutofit fontScale="40000" lnSpcReduction="20000"/>
          </a:bodyPr>
          <a:lstStyle/>
          <a:p>
            <a:pPr marL="0" indent="0">
              <a:buNone/>
            </a:pPr>
            <a:r>
              <a:rPr lang="en-IN" sz="2800" b="1" dirty="0">
                <a:latin typeface="Times New Roman" panose="02020603050405020304" pitchFamily="18" charset="0"/>
                <a:cs typeface="Times New Roman" panose="02020603050405020304" pitchFamily="18" charset="0"/>
              </a:rPr>
              <a:t>1. Classification</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Goal</a:t>
            </a:r>
            <a:r>
              <a:rPr lang="en-IN" sz="2800" dirty="0">
                <a:latin typeface="Times New Roman" panose="02020603050405020304" pitchFamily="18" charset="0"/>
                <a:cs typeface="Times New Roman" panose="02020603050405020304" pitchFamily="18" charset="0"/>
              </a:rPr>
              <a:t>: Predict </a:t>
            </a:r>
            <a:r>
              <a:rPr lang="en-IN" sz="2800" dirty="0" err="1">
                <a:latin typeface="Times New Roman" panose="02020603050405020304" pitchFamily="18" charset="0"/>
                <a:cs typeface="Times New Roman" panose="02020603050405020304" pitchFamily="18" charset="0"/>
              </a:rPr>
              <a:t>fetal</a:t>
            </a:r>
            <a:r>
              <a:rPr lang="en-IN" sz="2800" dirty="0">
                <a:latin typeface="Times New Roman" panose="02020603050405020304" pitchFamily="18" charset="0"/>
                <a:cs typeface="Times New Roman" panose="02020603050405020304" pitchFamily="18" charset="0"/>
              </a:rPr>
              <a:t> health status (Normal, Suspect, Pathological)</a:t>
            </a:r>
          </a:p>
          <a:p>
            <a:r>
              <a:rPr lang="en-IN" sz="2800" b="1" dirty="0">
                <a:latin typeface="Times New Roman" panose="02020603050405020304" pitchFamily="18" charset="0"/>
                <a:cs typeface="Times New Roman" panose="02020603050405020304" pitchFamily="18" charset="0"/>
              </a:rPr>
              <a:t>Models</a:t>
            </a:r>
            <a:r>
              <a:rPr lang="en-IN" sz="2800" dirty="0">
                <a:latin typeface="Times New Roman" panose="02020603050405020304" pitchFamily="18" charset="0"/>
                <a:cs typeface="Times New Roman" panose="02020603050405020304" pitchFamily="18" charset="0"/>
              </a:rPr>
              <a:t>: Random Forest, Logistic Regression, </a:t>
            </a:r>
            <a:r>
              <a:rPr lang="en-IN" sz="2800" dirty="0" err="1">
                <a:latin typeface="Times New Roman" panose="02020603050405020304" pitchFamily="18" charset="0"/>
                <a:cs typeface="Times New Roman" panose="02020603050405020304" pitchFamily="18" charset="0"/>
              </a:rPr>
              <a:t>XGBoost</a:t>
            </a:r>
            <a:endParaRPr lang="en-IN" sz="2800" dirty="0">
              <a:latin typeface="Times New Roman" panose="02020603050405020304" pitchFamily="18" charset="0"/>
              <a:cs typeface="Times New Roman" panose="02020603050405020304" pitchFamily="18" charset="0"/>
            </a:endParaRPr>
          </a:p>
          <a:p>
            <a:pPr marL="0" indent="0">
              <a:buNone/>
            </a:pPr>
            <a:r>
              <a:rPr lang="en-IN" sz="2800" b="1" dirty="0">
                <a:latin typeface="Times New Roman" panose="02020603050405020304" pitchFamily="18" charset="0"/>
                <a:cs typeface="Times New Roman" panose="02020603050405020304" pitchFamily="18" charset="0"/>
              </a:rPr>
              <a:t>2. Feature Selection</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Method</a:t>
            </a:r>
            <a:r>
              <a:rPr lang="en-IN" sz="2800" dirty="0">
                <a:latin typeface="Times New Roman" panose="02020603050405020304" pitchFamily="18" charset="0"/>
                <a:cs typeface="Times New Roman" panose="02020603050405020304" pitchFamily="18" charset="0"/>
              </a:rPr>
              <a:t>: Pearson correlation with p-value filtering</a:t>
            </a:r>
          </a:p>
          <a:p>
            <a:r>
              <a:rPr lang="en-IN" sz="2800" b="1" dirty="0">
                <a:latin typeface="Times New Roman" panose="02020603050405020304" pitchFamily="18" charset="0"/>
                <a:cs typeface="Times New Roman" panose="02020603050405020304" pitchFamily="18" charset="0"/>
              </a:rPr>
              <a:t>Result</a:t>
            </a:r>
            <a:r>
              <a:rPr lang="en-IN" sz="2800" dirty="0">
                <a:latin typeface="Times New Roman" panose="02020603050405020304" pitchFamily="18" charset="0"/>
                <a:cs typeface="Times New Roman" panose="02020603050405020304" pitchFamily="18" charset="0"/>
              </a:rPr>
              <a:t>: Top 10 most relevant features selected</a:t>
            </a:r>
          </a:p>
          <a:p>
            <a:pPr marL="0" indent="0">
              <a:buNone/>
            </a:pPr>
            <a:r>
              <a:rPr lang="en-IN" sz="2800" b="1" dirty="0">
                <a:latin typeface="Times New Roman" panose="02020603050405020304" pitchFamily="18" charset="0"/>
                <a:cs typeface="Times New Roman" panose="02020603050405020304" pitchFamily="18" charset="0"/>
              </a:rPr>
              <a:t>3. Clustering</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Goal</a:t>
            </a:r>
            <a:r>
              <a:rPr lang="en-IN" sz="2800" dirty="0">
                <a:latin typeface="Times New Roman" panose="02020603050405020304" pitchFamily="18" charset="0"/>
                <a:cs typeface="Times New Roman" panose="02020603050405020304" pitchFamily="18" charset="0"/>
              </a:rPr>
              <a:t>: Discover hidden patterns without labels</a:t>
            </a:r>
          </a:p>
          <a:p>
            <a:r>
              <a:rPr lang="en-IN" sz="2800" b="1" dirty="0">
                <a:latin typeface="Times New Roman" panose="02020603050405020304" pitchFamily="18" charset="0"/>
                <a:cs typeface="Times New Roman" panose="02020603050405020304" pitchFamily="18" charset="0"/>
              </a:rPr>
              <a:t>Method</a:t>
            </a:r>
            <a:r>
              <a:rPr lang="en-IN" sz="2800" dirty="0">
                <a:latin typeface="Times New Roman" panose="02020603050405020304" pitchFamily="18" charset="0"/>
                <a:cs typeface="Times New Roman" panose="02020603050405020304" pitchFamily="18" charset="0"/>
              </a:rPr>
              <a:t>: K-Means with k = 5, 10, 15 + PCA for 2D visualization</a:t>
            </a:r>
          </a:p>
          <a:p>
            <a:pPr marL="0" indent="0">
              <a:buNone/>
            </a:pPr>
            <a:r>
              <a:rPr lang="en-IN" sz="2800" b="1" dirty="0">
                <a:latin typeface="Times New Roman" panose="02020603050405020304" pitchFamily="18" charset="0"/>
                <a:cs typeface="Times New Roman" panose="02020603050405020304" pitchFamily="18" charset="0"/>
              </a:rPr>
              <a:t>4. Data Balancing</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Method</a:t>
            </a:r>
            <a:r>
              <a:rPr lang="en-IN" sz="2800" dirty="0">
                <a:latin typeface="Times New Roman" panose="02020603050405020304" pitchFamily="18" charset="0"/>
                <a:cs typeface="Times New Roman" panose="02020603050405020304" pitchFamily="18" charset="0"/>
              </a:rPr>
              <a:t>: SMOTE (Synthetic Minority Over-sampling Technique)</a:t>
            </a:r>
          </a:p>
          <a:p>
            <a:r>
              <a:rPr lang="en-IN" sz="2800" b="1" dirty="0">
                <a:latin typeface="Times New Roman" panose="02020603050405020304" pitchFamily="18" charset="0"/>
                <a:cs typeface="Times New Roman" panose="02020603050405020304" pitchFamily="18" charset="0"/>
              </a:rPr>
              <a:t>Purpose</a:t>
            </a:r>
            <a:r>
              <a:rPr lang="en-IN" sz="2800" dirty="0">
                <a:latin typeface="Times New Roman" panose="02020603050405020304" pitchFamily="18" charset="0"/>
                <a:cs typeface="Times New Roman" panose="02020603050405020304" pitchFamily="18" charset="0"/>
              </a:rPr>
              <a:t>: Improve prediction on minority classes</a:t>
            </a:r>
          </a:p>
          <a:p>
            <a:pPr marL="0" indent="0">
              <a:buNone/>
            </a:pPr>
            <a:r>
              <a:rPr lang="en-IN" sz="2800" b="1" dirty="0">
                <a:latin typeface="Times New Roman" panose="02020603050405020304" pitchFamily="18" charset="0"/>
                <a:cs typeface="Times New Roman" panose="02020603050405020304" pitchFamily="18" charset="0"/>
              </a:rPr>
              <a:t>5. Evaluation &amp; Visualization</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Tools</a:t>
            </a:r>
            <a:r>
              <a:rPr lang="en-IN" sz="2800" dirty="0">
                <a:latin typeface="Times New Roman" panose="02020603050405020304" pitchFamily="18" charset="0"/>
                <a:cs typeface="Times New Roman" panose="02020603050405020304" pitchFamily="18" charset="0"/>
              </a:rPr>
              <a:t>: Confusion Matrix, ROC AUC, F1 Score, PR AUC</a:t>
            </a:r>
          </a:p>
          <a:p>
            <a:r>
              <a:rPr lang="en-IN" sz="2800" b="1" dirty="0">
                <a:latin typeface="Times New Roman" panose="02020603050405020304" pitchFamily="18" charset="0"/>
                <a:cs typeface="Times New Roman" panose="02020603050405020304" pitchFamily="18" charset="0"/>
              </a:rPr>
              <a:t>Purpose</a:t>
            </a:r>
            <a:r>
              <a:rPr lang="en-IN" sz="2800" dirty="0">
                <a:latin typeface="Times New Roman" panose="02020603050405020304" pitchFamily="18" charset="0"/>
                <a:cs typeface="Times New Roman" panose="02020603050405020304" pitchFamily="18" charset="0"/>
              </a:rPr>
              <a:t>: Assess and compare model performance</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9426" y="2700068"/>
            <a:ext cx="4572002" cy="3178833"/>
          </a:xfrm>
          <a:prstGeom prst="rect">
            <a:avLst/>
          </a:prstGeom>
        </p:spPr>
      </p:pic>
    </p:spTree>
    <p:extLst>
      <p:ext uri="{BB962C8B-B14F-4D97-AF65-F5344CB8AC3E}">
        <p14:creationId xmlns:p14="http://schemas.microsoft.com/office/powerpoint/2010/main" val="2273541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Did You Solve Each Task ?</a:t>
            </a:r>
            <a:endParaRPr lang="en-IN" dirty="0"/>
          </a:p>
        </p:txBody>
      </p:sp>
      <p:sp>
        <p:nvSpPr>
          <p:cNvPr id="3" name="Content Placeholder 2"/>
          <p:cNvSpPr>
            <a:spLocks noGrp="1"/>
          </p:cNvSpPr>
          <p:nvPr>
            <p:ph idx="1"/>
          </p:nvPr>
        </p:nvSpPr>
        <p:spPr>
          <a:xfrm>
            <a:off x="914400" y="2565557"/>
            <a:ext cx="10455215" cy="3817990"/>
          </a:xfrm>
        </p:spPr>
        <p:txBody>
          <a:bodyPr>
            <a:normAutofit fontScale="85000" lnSpcReduction="20000"/>
          </a:bodyPr>
          <a:lstStyle/>
          <a:p>
            <a:pPr marL="0" indent="0">
              <a:buNone/>
            </a:pPr>
            <a:r>
              <a:rPr lang="en-US" b="1" dirty="0"/>
              <a:t>1. Classification</a:t>
            </a:r>
            <a:endParaRPr lang="en-US" dirty="0"/>
          </a:p>
          <a:p>
            <a:r>
              <a:rPr lang="en-US" dirty="0"/>
              <a:t>Used </a:t>
            </a:r>
            <a:r>
              <a:rPr lang="en-US" b="1" dirty="0"/>
              <a:t>supervised learning</a:t>
            </a:r>
            <a:r>
              <a:rPr lang="en-US" dirty="0"/>
              <a:t> to classify fetal health as </a:t>
            </a:r>
            <a:r>
              <a:rPr lang="en-US" b="1" dirty="0"/>
              <a:t>Normal, Suspect, or Pathological</a:t>
            </a:r>
            <a:r>
              <a:rPr lang="en-US" dirty="0"/>
              <a:t>.</a:t>
            </a:r>
          </a:p>
          <a:p>
            <a:r>
              <a:rPr lang="en-US" dirty="0"/>
              <a:t>Trained three models:</a:t>
            </a:r>
          </a:p>
          <a:p>
            <a:pPr lvl="1"/>
            <a:r>
              <a:rPr lang="en-US" b="1" dirty="0"/>
              <a:t>Random Forest</a:t>
            </a:r>
            <a:r>
              <a:rPr lang="en-US" dirty="0"/>
              <a:t> – handled non-linearity and performed best overall.</a:t>
            </a:r>
          </a:p>
          <a:p>
            <a:pPr lvl="1"/>
            <a:r>
              <a:rPr lang="en-US" b="1" dirty="0"/>
              <a:t>Logistic Regression</a:t>
            </a:r>
            <a:r>
              <a:rPr lang="en-US" dirty="0"/>
              <a:t> – used as a baseline model.</a:t>
            </a:r>
          </a:p>
          <a:p>
            <a:pPr lvl="1"/>
            <a:r>
              <a:rPr lang="en-US" b="1" dirty="0" err="1"/>
              <a:t>XGBoost</a:t>
            </a:r>
            <a:r>
              <a:rPr lang="en-US" dirty="0"/>
              <a:t> – gradient boosting classifier with strong accuracy and efficiency.</a:t>
            </a:r>
          </a:p>
          <a:p>
            <a:pPr marL="0" indent="0">
              <a:buNone/>
            </a:pPr>
            <a:r>
              <a:rPr lang="en-US" b="1" dirty="0" smtClean="0"/>
              <a:t>2</a:t>
            </a:r>
            <a:r>
              <a:rPr lang="en-US" b="1" dirty="0"/>
              <a:t>. Feature Selection</a:t>
            </a:r>
            <a:endParaRPr lang="en-US" dirty="0"/>
          </a:p>
          <a:p>
            <a:r>
              <a:rPr lang="en-US" dirty="0"/>
              <a:t>Applied </a:t>
            </a:r>
            <a:r>
              <a:rPr lang="en-US" b="1" dirty="0"/>
              <a:t>Pearson correlation</a:t>
            </a:r>
            <a:r>
              <a:rPr lang="en-US" dirty="0"/>
              <a:t> to find relationships between each feature and the target </a:t>
            </a:r>
            <a:r>
              <a:rPr lang="en-US" dirty="0" smtClean="0"/>
              <a:t>(</a:t>
            </a:r>
            <a:r>
              <a:rPr lang="en-US" dirty="0" err="1" smtClean="0"/>
              <a:t>fetal_health</a:t>
            </a:r>
            <a:r>
              <a:rPr lang="en-US" dirty="0" smtClean="0"/>
              <a:t>).</a:t>
            </a:r>
            <a:endParaRPr lang="en-US" dirty="0"/>
          </a:p>
          <a:p>
            <a:r>
              <a:rPr lang="en-US" dirty="0"/>
              <a:t>Selected </a:t>
            </a:r>
            <a:r>
              <a:rPr lang="en-US" b="1" dirty="0"/>
              <a:t>top 10 features</a:t>
            </a:r>
            <a:r>
              <a:rPr lang="en-US" dirty="0"/>
              <a:t> based on correlation strength and statistical significance (p &lt; 0.1).</a:t>
            </a:r>
          </a:p>
          <a:p>
            <a:r>
              <a:rPr lang="en-US" dirty="0"/>
              <a:t>Reduced dimensionality and improved model interpretability.</a:t>
            </a:r>
          </a:p>
          <a:p>
            <a:pPr marL="0" indent="0">
              <a:buNone/>
            </a:pPr>
            <a:endParaRPr lang="en-US" dirty="0"/>
          </a:p>
        </p:txBody>
      </p:sp>
    </p:spTree>
    <p:extLst>
      <p:ext uri="{BB962C8B-B14F-4D97-AF65-F5344CB8AC3E}">
        <p14:creationId xmlns:p14="http://schemas.microsoft.com/office/powerpoint/2010/main" val="195263347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6377" y="836762"/>
            <a:ext cx="10696755" cy="53570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smtClean="0">
                <a:solidFill>
                  <a:schemeClr val="tx1"/>
                </a:solidFill>
                <a:latin typeface="Times New Roman" panose="02020603050405020304" pitchFamily="18" charset="0"/>
                <a:cs typeface="Times New Roman" panose="02020603050405020304" pitchFamily="18" charset="0"/>
              </a:rPr>
              <a:t>3</a:t>
            </a:r>
            <a:r>
              <a:rPr lang="en-US" sz="2000" b="1" dirty="0">
                <a:solidFill>
                  <a:schemeClr val="tx1"/>
                </a:solidFill>
                <a:latin typeface="Times New Roman" panose="02020603050405020304" pitchFamily="18" charset="0"/>
                <a:cs typeface="Times New Roman" panose="02020603050405020304" pitchFamily="18" charset="0"/>
              </a:rPr>
              <a:t>. Clustering</a:t>
            </a:r>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smtClean="0">
                <a:solidFill>
                  <a:schemeClr val="tx1"/>
                </a:solidFill>
                <a:latin typeface="Times New Roman" panose="02020603050405020304" pitchFamily="18" charset="0"/>
                <a:cs typeface="Times New Roman" panose="02020603050405020304" pitchFamily="18" charset="0"/>
              </a:rPr>
              <a:t>	Performed </a:t>
            </a:r>
            <a:r>
              <a:rPr lang="en-US" sz="2000" b="1" dirty="0">
                <a:solidFill>
                  <a:schemeClr val="tx1"/>
                </a:solidFill>
                <a:latin typeface="Times New Roman" panose="02020603050405020304" pitchFamily="18" charset="0"/>
                <a:cs typeface="Times New Roman" panose="02020603050405020304" pitchFamily="18" charset="0"/>
              </a:rPr>
              <a:t>unsupervised K-Means clustering</a:t>
            </a:r>
            <a:r>
              <a:rPr lang="en-US" sz="2000" dirty="0">
                <a:solidFill>
                  <a:schemeClr val="tx1"/>
                </a:solidFill>
                <a:latin typeface="Times New Roman" panose="02020603050405020304" pitchFamily="18" charset="0"/>
                <a:cs typeface="Times New Roman" panose="02020603050405020304" pitchFamily="18" charset="0"/>
              </a:rPr>
              <a:t> to group data without labels.</a:t>
            </a:r>
          </a:p>
          <a:p>
            <a:r>
              <a:rPr lang="en-US" sz="2000" dirty="0" smtClean="0">
                <a:solidFill>
                  <a:schemeClr val="tx1"/>
                </a:solidFill>
                <a:latin typeface="Times New Roman" panose="02020603050405020304" pitchFamily="18" charset="0"/>
                <a:cs typeface="Times New Roman" panose="02020603050405020304" pitchFamily="18" charset="0"/>
              </a:rPr>
              <a:t>	Used </a:t>
            </a:r>
            <a:r>
              <a:rPr lang="en-US" sz="2000" b="1" dirty="0">
                <a:solidFill>
                  <a:schemeClr val="tx1"/>
                </a:solidFill>
                <a:latin typeface="Times New Roman" panose="02020603050405020304" pitchFamily="18" charset="0"/>
                <a:cs typeface="Times New Roman" panose="02020603050405020304" pitchFamily="18" charset="0"/>
              </a:rPr>
              <a:t>PCA</a:t>
            </a:r>
            <a:r>
              <a:rPr lang="en-US" sz="2000" dirty="0">
                <a:solidFill>
                  <a:schemeClr val="tx1"/>
                </a:solidFill>
                <a:latin typeface="Times New Roman" panose="02020603050405020304" pitchFamily="18" charset="0"/>
                <a:cs typeface="Times New Roman" panose="02020603050405020304" pitchFamily="18" charset="0"/>
              </a:rPr>
              <a:t> to reduce features to 2D for visualization.</a:t>
            </a:r>
          </a:p>
          <a:p>
            <a:r>
              <a:rPr lang="en-US" sz="2000" dirty="0" smtClean="0">
                <a:solidFill>
                  <a:schemeClr val="tx1"/>
                </a:solidFill>
                <a:latin typeface="Times New Roman" panose="02020603050405020304" pitchFamily="18" charset="0"/>
                <a:cs typeface="Times New Roman" panose="02020603050405020304" pitchFamily="18" charset="0"/>
              </a:rPr>
              <a:t>	Tested </a:t>
            </a:r>
            <a:r>
              <a:rPr lang="en-US" sz="2000" dirty="0">
                <a:solidFill>
                  <a:schemeClr val="tx1"/>
                </a:solidFill>
                <a:latin typeface="Times New Roman" panose="02020603050405020304" pitchFamily="18" charset="0"/>
                <a:cs typeface="Times New Roman" panose="02020603050405020304" pitchFamily="18" charset="0"/>
              </a:rPr>
              <a:t>with k = 5, 10, 15 to explore different group structures.</a:t>
            </a:r>
          </a:p>
          <a:p>
            <a:r>
              <a:rPr lang="en-IN" sz="2000" b="1" dirty="0" smtClean="0">
                <a:solidFill>
                  <a:schemeClr val="tx1"/>
                </a:solidFill>
                <a:latin typeface="Times New Roman" panose="02020603050405020304" pitchFamily="18" charset="0"/>
                <a:cs typeface="Times New Roman" panose="02020603050405020304" pitchFamily="18" charset="0"/>
              </a:rPr>
              <a:t>4</a:t>
            </a:r>
            <a:r>
              <a:rPr lang="en-IN" sz="2000" b="1" dirty="0">
                <a:solidFill>
                  <a:schemeClr val="tx1"/>
                </a:solidFill>
                <a:latin typeface="Times New Roman" panose="02020603050405020304" pitchFamily="18" charset="0"/>
                <a:cs typeface="Times New Roman" panose="02020603050405020304" pitchFamily="18" charset="0"/>
              </a:rPr>
              <a:t>. Data Balancing</a:t>
            </a:r>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smtClean="0">
                <a:solidFill>
                  <a:schemeClr val="tx1"/>
                </a:solidFill>
                <a:latin typeface="Times New Roman" panose="02020603050405020304" pitchFamily="18" charset="0"/>
                <a:cs typeface="Times New Roman" panose="02020603050405020304" pitchFamily="18" charset="0"/>
              </a:rPr>
              <a:t>	Identified </a:t>
            </a:r>
            <a:r>
              <a:rPr lang="en-IN" sz="2000" dirty="0">
                <a:solidFill>
                  <a:schemeClr val="tx1"/>
                </a:solidFill>
                <a:latin typeface="Times New Roman" panose="02020603050405020304" pitchFamily="18" charset="0"/>
                <a:cs typeface="Times New Roman" panose="02020603050405020304" pitchFamily="18" charset="0"/>
              </a:rPr>
              <a:t>class imbalance (majority: Normal).</a:t>
            </a:r>
          </a:p>
          <a:p>
            <a:r>
              <a:rPr lang="en-IN" sz="2000" dirty="0" smtClean="0">
                <a:solidFill>
                  <a:schemeClr val="tx1"/>
                </a:solidFill>
                <a:latin typeface="Times New Roman" panose="02020603050405020304" pitchFamily="18" charset="0"/>
                <a:cs typeface="Times New Roman" panose="02020603050405020304" pitchFamily="18" charset="0"/>
              </a:rPr>
              <a:t>	Applied </a:t>
            </a:r>
            <a:r>
              <a:rPr lang="en-IN" sz="2000" b="1" dirty="0">
                <a:solidFill>
                  <a:schemeClr val="tx1"/>
                </a:solidFill>
                <a:latin typeface="Times New Roman" panose="02020603050405020304" pitchFamily="18" charset="0"/>
                <a:cs typeface="Times New Roman" panose="02020603050405020304" pitchFamily="18" charset="0"/>
              </a:rPr>
              <a:t>SMOTE (Synthetic Minority Over-sampling Technique)</a:t>
            </a:r>
            <a:r>
              <a:rPr lang="en-IN" sz="2000" dirty="0">
                <a:solidFill>
                  <a:schemeClr val="tx1"/>
                </a:solidFill>
                <a:latin typeface="Times New Roman" panose="02020603050405020304" pitchFamily="18" charset="0"/>
                <a:cs typeface="Times New Roman" panose="02020603050405020304" pitchFamily="18" charset="0"/>
              </a:rPr>
              <a:t> on training data.</a:t>
            </a:r>
          </a:p>
          <a:p>
            <a:r>
              <a:rPr lang="en-IN" sz="2000" dirty="0" smtClean="0">
                <a:solidFill>
                  <a:schemeClr val="tx1"/>
                </a:solidFill>
                <a:latin typeface="Times New Roman" panose="02020603050405020304" pitchFamily="18" charset="0"/>
                <a:cs typeface="Times New Roman" panose="02020603050405020304" pitchFamily="18" charset="0"/>
              </a:rPr>
              <a:t>	Generated </a:t>
            </a:r>
            <a:r>
              <a:rPr lang="en-IN" sz="2000" dirty="0">
                <a:solidFill>
                  <a:schemeClr val="tx1"/>
                </a:solidFill>
                <a:latin typeface="Times New Roman" panose="02020603050405020304" pitchFamily="18" charset="0"/>
                <a:cs typeface="Times New Roman" panose="02020603050405020304" pitchFamily="18" charset="0"/>
              </a:rPr>
              <a:t>synthetic samples for underrepresented classes (Suspect, Pathological) to balance the dataset.</a:t>
            </a:r>
          </a:p>
          <a:p>
            <a:r>
              <a:rPr lang="en-IN" sz="2000" b="1" dirty="0" smtClean="0">
                <a:solidFill>
                  <a:schemeClr val="tx1"/>
                </a:solidFill>
                <a:latin typeface="Times New Roman" panose="02020603050405020304" pitchFamily="18" charset="0"/>
                <a:cs typeface="Times New Roman" panose="02020603050405020304" pitchFamily="18" charset="0"/>
              </a:rPr>
              <a:t>5</a:t>
            </a:r>
            <a:r>
              <a:rPr lang="en-IN" sz="2000" b="1" dirty="0">
                <a:solidFill>
                  <a:schemeClr val="tx1"/>
                </a:solidFill>
                <a:latin typeface="Times New Roman" panose="02020603050405020304" pitchFamily="18" charset="0"/>
                <a:cs typeface="Times New Roman" panose="02020603050405020304" pitchFamily="18" charset="0"/>
              </a:rPr>
              <a:t>. Evaluation &amp; Visualization</a:t>
            </a:r>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smtClean="0">
                <a:solidFill>
                  <a:schemeClr val="tx1"/>
                </a:solidFill>
                <a:latin typeface="Times New Roman" panose="02020603050405020304" pitchFamily="18" charset="0"/>
                <a:cs typeface="Times New Roman" panose="02020603050405020304" pitchFamily="18" charset="0"/>
              </a:rPr>
              <a:t>	Measured </a:t>
            </a:r>
            <a:r>
              <a:rPr lang="en-IN" sz="2000" dirty="0">
                <a:solidFill>
                  <a:schemeClr val="tx1"/>
                </a:solidFill>
                <a:latin typeface="Times New Roman" panose="02020603050405020304" pitchFamily="18" charset="0"/>
                <a:cs typeface="Times New Roman" panose="02020603050405020304" pitchFamily="18" charset="0"/>
              </a:rPr>
              <a:t>model performance using:</a:t>
            </a:r>
          </a:p>
          <a:p>
            <a:pPr lvl="1"/>
            <a:r>
              <a:rPr lang="en-IN" sz="2000" b="1" dirty="0" smtClean="0">
                <a:solidFill>
                  <a:schemeClr val="tx1"/>
                </a:solidFill>
                <a:latin typeface="Times New Roman" panose="02020603050405020304" pitchFamily="18" charset="0"/>
                <a:cs typeface="Times New Roman" panose="02020603050405020304" pitchFamily="18" charset="0"/>
              </a:rPr>
              <a:t>	Confusion </a:t>
            </a:r>
            <a:r>
              <a:rPr lang="en-IN" sz="2000" b="1" dirty="0">
                <a:solidFill>
                  <a:schemeClr val="tx1"/>
                </a:solidFill>
                <a:latin typeface="Times New Roman" panose="02020603050405020304" pitchFamily="18" charset="0"/>
                <a:cs typeface="Times New Roman" panose="02020603050405020304" pitchFamily="18" charset="0"/>
              </a:rPr>
              <a:t>Matrix</a:t>
            </a:r>
            <a:r>
              <a:rPr lang="en-IN" sz="2000" dirty="0">
                <a:solidFill>
                  <a:schemeClr val="tx1"/>
                </a:solidFill>
                <a:latin typeface="Times New Roman" panose="02020603050405020304" pitchFamily="18" charset="0"/>
                <a:cs typeface="Times New Roman" panose="02020603050405020304" pitchFamily="18" charset="0"/>
              </a:rPr>
              <a:t> – showed correct </a:t>
            </a:r>
            <a:r>
              <a:rPr lang="en-IN" sz="2000" dirty="0" err="1">
                <a:solidFill>
                  <a:schemeClr val="tx1"/>
                </a:solidFill>
                <a:latin typeface="Times New Roman" panose="02020603050405020304" pitchFamily="18" charset="0"/>
                <a:cs typeface="Times New Roman" panose="02020603050405020304" pitchFamily="18" charset="0"/>
              </a:rPr>
              <a:t>vs</a:t>
            </a:r>
            <a:r>
              <a:rPr lang="en-IN" sz="2000" dirty="0">
                <a:solidFill>
                  <a:schemeClr val="tx1"/>
                </a:solidFill>
                <a:latin typeface="Times New Roman" panose="02020603050405020304" pitchFamily="18" charset="0"/>
                <a:cs typeface="Times New Roman" panose="02020603050405020304" pitchFamily="18" charset="0"/>
              </a:rPr>
              <a:t> incorrect predictions.</a:t>
            </a:r>
          </a:p>
          <a:p>
            <a:pPr lvl="1"/>
            <a:r>
              <a:rPr lang="en-IN" sz="2000" b="1" dirty="0" smtClean="0">
                <a:solidFill>
                  <a:schemeClr val="tx1"/>
                </a:solidFill>
                <a:latin typeface="Times New Roman" panose="02020603050405020304" pitchFamily="18" charset="0"/>
                <a:cs typeface="Times New Roman" panose="02020603050405020304" pitchFamily="18" charset="0"/>
              </a:rPr>
              <a:t>	ROC </a:t>
            </a:r>
            <a:r>
              <a:rPr lang="en-IN" sz="2000" b="1" dirty="0">
                <a:solidFill>
                  <a:schemeClr val="tx1"/>
                </a:solidFill>
                <a:latin typeface="Times New Roman" panose="02020603050405020304" pitchFamily="18" charset="0"/>
                <a:cs typeface="Times New Roman" panose="02020603050405020304" pitchFamily="18" charset="0"/>
              </a:rPr>
              <a:t>AUC</a:t>
            </a:r>
            <a:r>
              <a:rPr lang="en-IN" sz="2000" dirty="0">
                <a:solidFill>
                  <a:schemeClr val="tx1"/>
                </a:solidFill>
                <a:latin typeface="Times New Roman" panose="02020603050405020304" pitchFamily="18" charset="0"/>
                <a:cs typeface="Times New Roman" panose="02020603050405020304" pitchFamily="18" charset="0"/>
              </a:rPr>
              <a:t> – tested overall </a:t>
            </a:r>
            <a:r>
              <a:rPr lang="en-IN" sz="2000" dirty="0" err="1">
                <a:solidFill>
                  <a:schemeClr val="tx1"/>
                </a:solidFill>
                <a:latin typeface="Times New Roman" panose="02020603050405020304" pitchFamily="18" charset="0"/>
                <a:cs typeface="Times New Roman" panose="02020603050405020304" pitchFamily="18" charset="0"/>
              </a:rPr>
              <a:t>separability</a:t>
            </a:r>
            <a:r>
              <a:rPr lang="en-IN" sz="2000" dirty="0">
                <a:solidFill>
                  <a:schemeClr val="tx1"/>
                </a:solidFill>
                <a:latin typeface="Times New Roman" panose="02020603050405020304" pitchFamily="18" charset="0"/>
                <a:cs typeface="Times New Roman" panose="02020603050405020304" pitchFamily="18" charset="0"/>
              </a:rPr>
              <a:t> across classes.</a:t>
            </a:r>
          </a:p>
          <a:p>
            <a:pPr lvl="1"/>
            <a:r>
              <a:rPr lang="en-IN" sz="2000" b="1" dirty="0" smtClean="0">
                <a:solidFill>
                  <a:schemeClr val="tx1"/>
                </a:solidFill>
                <a:latin typeface="Times New Roman" panose="02020603050405020304" pitchFamily="18" charset="0"/>
                <a:cs typeface="Times New Roman" panose="02020603050405020304" pitchFamily="18" charset="0"/>
              </a:rPr>
              <a:t>	F1 </a:t>
            </a:r>
            <a:r>
              <a:rPr lang="en-IN" sz="2000" b="1" dirty="0">
                <a:solidFill>
                  <a:schemeClr val="tx1"/>
                </a:solidFill>
                <a:latin typeface="Times New Roman" panose="02020603050405020304" pitchFamily="18" charset="0"/>
                <a:cs typeface="Times New Roman" panose="02020603050405020304" pitchFamily="18" charset="0"/>
              </a:rPr>
              <a:t>Score</a:t>
            </a:r>
            <a:r>
              <a:rPr lang="en-IN" sz="2000" dirty="0">
                <a:solidFill>
                  <a:schemeClr val="tx1"/>
                </a:solidFill>
                <a:latin typeface="Times New Roman" panose="02020603050405020304" pitchFamily="18" charset="0"/>
                <a:cs typeface="Times New Roman" panose="02020603050405020304" pitchFamily="18" charset="0"/>
              </a:rPr>
              <a:t> – focused on precision/recall balance.</a:t>
            </a:r>
          </a:p>
          <a:p>
            <a:pPr lvl="1"/>
            <a:r>
              <a:rPr lang="en-IN" sz="2000" b="1" dirty="0" smtClean="0">
                <a:solidFill>
                  <a:schemeClr val="tx1"/>
                </a:solidFill>
                <a:latin typeface="Times New Roman" panose="02020603050405020304" pitchFamily="18" charset="0"/>
                <a:cs typeface="Times New Roman" panose="02020603050405020304" pitchFamily="18" charset="0"/>
              </a:rPr>
              <a:t>	PR </a:t>
            </a:r>
            <a:r>
              <a:rPr lang="en-IN" sz="2000" b="1" dirty="0">
                <a:solidFill>
                  <a:schemeClr val="tx1"/>
                </a:solidFill>
                <a:latin typeface="Times New Roman" panose="02020603050405020304" pitchFamily="18" charset="0"/>
                <a:cs typeface="Times New Roman" panose="02020603050405020304" pitchFamily="18" charset="0"/>
              </a:rPr>
              <a:t>AUC</a:t>
            </a:r>
            <a:r>
              <a:rPr lang="en-IN" sz="2000" dirty="0">
                <a:solidFill>
                  <a:schemeClr val="tx1"/>
                </a:solidFill>
                <a:latin typeface="Times New Roman" panose="02020603050405020304" pitchFamily="18" charset="0"/>
                <a:cs typeface="Times New Roman" panose="02020603050405020304" pitchFamily="18" charset="0"/>
              </a:rPr>
              <a:t> – evaluated under class imbalance.</a:t>
            </a:r>
          </a:p>
          <a:p>
            <a:r>
              <a:rPr lang="en-IN" sz="2000" b="1" dirty="0" smtClean="0">
                <a:solidFill>
                  <a:schemeClr val="tx1"/>
                </a:solidFill>
                <a:latin typeface="Times New Roman" panose="02020603050405020304" pitchFamily="18" charset="0"/>
                <a:cs typeface="Times New Roman" panose="02020603050405020304" pitchFamily="18" charset="0"/>
              </a:rPr>
              <a:t>6.</a:t>
            </a:r>
            <a:r>
              <a:rPr lang="en-IN" sz="2000" dirty="0" smtClean="0">
                <a:solidFill>
                  <a:schemeClr val="tx1"/>
                </a:solidFill>
                <a:latin typeface="Times New Roman" panose="02020603050405020304" pitchFamily="18" charset="0"/>
                <a:cs typeface="Times New Roman" panose="02020603050405020304" pitchFamily="18" charset="0"/>
              </a:rPr>
              <a:t> </a:t>
            </a:r>
            <a:r>
              <a:rPr lang="en-IN" sz="2000" b="1" dirty="0" smtClean="0">
                <a:solidFill>
                  <a:schemeClr val="tx1"/>
                </a:solidFill>
                <a:latin typeface="Times New Roman" panose="02020603050405020304" pitchFamily="18" charset="0"/>
                <a:cs typeface="Times New Roman" panose="02020603050405020304" pitchFamily="18" charset="0"/>
              </a:rPr>
              <a:t>Visualized</a:t>
            </a:r>
            <a:r>
              <a:rPr lang="en-IN" sz="2000" b="1" dirty="0">
                <a:solidFill>
                  <a:schemeClr val="tx1"/>
                </a:solidFill>
                <a:latin typeface="Times New Roman" panose="02020603050405020304" pitchFamily="18" charset="0"/>
                <a:cs typeface="Times New Roman" panose="02020603050405020304" pitchFamily="18" charset="0"/>
              </a:rPr>
              <a:t>:</a:t>
            </a:r>
          </a:p>
          <a:p>
            <a:pPr lvl="1"/>
            <a:r>
              <a:rPr lang="en-IN" sz="2000" b="1" dirty="0">
                <a:solidFill>
                  <a:schemeClr val="tx1"/>
                </a:solidFill>
                <a:latin typeface="Times New Roman" panose="02020603050405020304" pitchFamily="18" charset="0"/>
                <a:cs typeface="Times New Roman" panose="02020603050405020304" pitchFamily="18" charset="0"/>
              </a:rPr>
              <a:t>Class distributions</a:t>
            </a:r>
            <a:r>
              <a:rPr lang="en-IN" sz="2000" dirty="0">
                <a:solidFill>
                  <a:schemeClr val="tx1"/>
                </a:solidFill>
                <a:latin typeface="Times New Roman" panose="02020603050405020304" pitchFamily="18" charset="0"/>
                <a:cs typeface="Times New Roman" panose="02020603050405020304" pitchFamily="18" charset="0"/>
              </a:rPr>
              <a:t>, </a:t>
            </a:r>
            <a:r>
              <a:rPr lang="en-IN" sz="2000" b="1" dirty="0">
                <a:solidFill>
                  <a:schemeClr val="tx1"/>
                </a:solidFill>
                <a:latin typeface="Times New Roman" panose="02020603050405020304" pitchFamily="18" charset="0"/>
                <a:cs typeface="Times New Roman" panose="02020603050405020304" pitchFamily="18" charset="0"/>
              </a:rPr>
              <a:t>model predictions</a:t>
            </a:r>
            <a:r>
              <a:rPr lang="en-IN" sz="2000" dirty="0">
                <a:solidFill>
                  <a:schemeClr val="tx1"/>
                </a:solidFill>
                <a:latin typeface="Times New Roman" panose="02020603050405020304" pitchFamily="18" charset="0"/>
                <a:cs typeface="Times New Roman" panose="02020603050405020304" pitchFamily="18" charset="0"/>
              </a:rPr>
              <a:t>, and </a:t>
            </a:r>
            <a:r>
              <a:rPr lang="en-IN" sz="2000" b="1" dirty="0">
                <a:solidFill>
                  <a:schemeClr val="tx1"/>
                </a:solidFill>
                <a:latin typeface="Times New Roman" panose="02020603050405020304" pitchFamily="18" charset="0"/>
                <a:cs typeface="Times New Roman" panose="02020603050405020304" pitchFamily="18" charset="0"/>
              </a:rPr>
              <a:t>clusters</a:t>
            </a:r>
            <a:r>
              <a:rPr lang="en-IN" sz="2000" dirty="0">
                <a:solidFill>
                  <a:schemeClr val="tx1"/>
                </a:solidFill>
                <a:latin typeface="Times New Roman" panose="02020603050405020304" pitchFamily="18" charset="0"/>
                <a:cs typeface="Times New Roman" panose="02020603050405020304" pitchFamily="18" charset="0"/>
              </a:rPr>
              <a:t> to interpret results effectively.</a:t>
            </a:r>
          </a:p>
          <a:p>
            <a:pPr algn="ctr"/>
            <a:endParaRPr lang="en-IN" dirty="0">
              <a:solidFill>
                <a:schemeClr val="tx1"/>
              </a:solidFill>
            </a:endParaRPr>
          </a:p>
        </p:txBody>
      </p:sp>
    </p:spTree>
    <p:extLst>
      <p:ext uri="{BB962C8B-B14F-4D97-AF65-F5344CB8AC3E}">
        <p14:creationId xmlns:p14="http://schemas.microsoft.com/office/powerpoint/2010/main" val="283819467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356" y="750499"/>
            <a:ext cx="4390844" cy="5460520"/>
          </a:xfrm>
        </p:spPr>
        <p:txBody>
          <a:bodyPr>
            <a:normAutofit/>
          </a:bodyPr>
          <a:lstStyle/>
          <a:p>
            <a:r>
              <a:rPr lang="en-US" sz="8000" dirty="0" smtClean="0">
                <a:latin typeface="Times New Roman" panose="02020603050405020304" pitchFamily="18" charset="0"/>
                <a:cs typeface="Times New Roman" panose="02020603050405020304" pitchFamily="18" charset="0"/>
              </a:rPr>
              <a:t>Let’s now go through the code</a:t>
            </a:r>
            <a:endParaRPr lang="en-IN" sz="8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9427" y="621102"/>
            <a:ext cx="5141344" cy="5589917"/>
          </a:xfrm>
          <a:prstGeom prst="rect">
            <a:avLst/>
          </a:prstGeom>
        </p:spPr>
      </p:pic>
    </p:spTree>
    <p:extLst>
      <p:ext uri="{BB962C8B-B14F-4D97-AF65-F5344CB8AC3E}">
        <p14:creationId xmlns:p14="http://schemas.microsoft.com/office/powerpoint/2010/main" val="5033900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8149" y="3052472"/>
            <a:ext cx="9601196" cy="1303867"/>
          </a:xfrm>
        </p:spPr>
        <p:txBody>
          <a:bodyPr>
            <a:noAutofit/>
          </a:bodyPr>
          <a:lstStyle/>
          <a:p>
            <a:r>
              <a:rPr lang="en-US" sz="9600" dirty="0" smtClean="0">
                <a:latin typeface="Times New Roman" panose="02020603050405020304" pitchFamily="18" charset="0"/>
                <a:cs typeface="Times New Roman" panose="02020603050405020304" pitchFamily="18" charset="0"/>
              </a:rPr>
              <a:t>Results</a:t>
            </a:r>
            <a:endParaRPr lang="en-IN" sz="9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3244" y="2953649"/>
            <a:ext cx="2466975" cy="1847850"/>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0234" y="2881762"/>
            <a:ext cx="2466975" cy="1847850"/>
          </a:xfrm>
          <a:prstGeom prst="rect">
            <a:avLst/>
          </a:prstGeom>
        </p:spPr>
      </p:pic>
    </p:spTree>
    <p:extLst>
      <p:ext uri="{BB962C8B-B14F-4D97-AF65-F5344CB8AC3E}">
        <p14:creationId xmlns:p14="http://schemas.microsoft.com/office/powerpoint/2010/main" val="40284891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646" y="612474"/>
            <a:ext cx="10636682" cy="5512281"/>
          </a:xfrm>
          <a:prstGeom prst="rect">
            <a:avLst/>
          </a:prstGeom>
        </p:spPr>
      </p:pic>
    </p:spTree>
    <p:extLst>
      <p:ext uri="{BB962C8B-B14F-4D97-AF65-F5344CB8AC3E}">
        <p14:creationId xmlns:p14="http://schemas.microsoft.com/office/powerpoint/2010/main" val="13828228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654714" y="646981"/>
            <a:ext cx="4089814" cy="3200400"/>
          </a:xfrm>
          <a:prstGeom prst="rect">
            <a:avLst/>
          </a:prstGeom>
        </p:spPr>
      </p:pic>
      <p:sp>
        <p:nvSpPr>
          <p:cNvPr id="3" name="Rectangle 2"/>
          <p:cNvSpPr/>
          <p:nvPr/>
        </p:nvSpPr>
        <p:spPr>
          <a:xfrm>
            <a:off x="4856672" y="741874"/>
            <a:ext cx="6685471" cy="53828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schemeClr val="tx1"/>
                </a:solidFill>
              </a:rPr>
              <a:t>Top Positively Correlated Features (Risk Indicators)</a:t>
            </a:r>
            <a:endParaRPr lang="en-IN" sz="1200" dirty="0">
              <a:solidFill>
                <a:schemeClr val="tx1"/>
              </a:solidFill>
            </a:endParaRPr>
          </a:p>
          <a:p>
            <a:pPr lvl="0"/>
            <a:r>
              <a:rPr lang="en-IN" sz="1400" b="1" dirty="0" err="1">
                <a:solidFill>
                  <a:schemeClr val="tx1"/>
                </a:solidFill>
              </a:rPr>
              <a:t>Prolongued</a:t>
            </a:r>
            <a:r>
              <a:rPr lang="en-IN" sz="1400" b="1" dirty="0">
                <a:solidFill>
                  <a:schemeClr val="tx1"/>
                </a:solidFill>
              </a:rPr>
              <a:t> Decelerations (r = 0.48)</a:t>
            </a:r>
            <a:endParaRPr lang="en-IN" sz="1200" dirty="0">
              <a:solidFill>
                <a:schemeClr val="tx1"/>
              </a:solidFill>
            </a:endParaRPr>
          </a:p>
          <a:p>
            <a:pPr lvl="1"/>
            <a:r>
              <a:rPr lang="en-IN" sz="1400" dirty="0">
                <a:solidFill>
                  <a:schemeClr val="tx1"/>
                </a:solidFill>
              </a:rPr>
              <a:t>Strongest correlation with poor </a:t>
            </a:r>
            <a:r>
              <a:rPr lang="en-IN" sz="1400" dirty="0" err="1">
                <a:solidFill>
                  <a:schemeClr val="tx1"/>
                </a:solidFill>
              </a:rPr>
              <a:t>fetal</a:t>
            </a:r>
            <a:r>
              <a:rPr lang="en-IN" sz="1400" dirty="0">
                <a:solidFill>
                  <a:schemeClr val="tx1"/>
                </a:solidFill>
              </a:rPr>
              <a:t> health. Frequent or long decelerations in heart rate are serious indicators of distress.</a:t>
            </a:r>
            <a:endParaRPr lang="en-IN" sz="1200" dirty="0">
              <a:solidFill>
                <a:schemeClr val="tx1"/>
              </a:solidFill>
            </a:endParaRPr>
          </a:p>
          <a:p>
            <a:pPr lvl="0"/>
            <a:r>
              <a:rPr lang="en-IN" sz="1400" b="1" dirty="0">
                <a:solidFill>
                  <a:schemeClr val="tx1"/>
                </a:solidFill>
              </a:rPr>
              <a:t>Abnormal Short-Term Variability (r = 0.47)</a:t>
            </a:r>
            <a:endParaRPr lang="en-IN" sz="1200" dirty="0">
              <a:solidFill>
                <a:schemeClr val="tx1"/>
              </a:solidFill>
            </a:endParaRPr>
          </a:p>
          <a:p>
            <a:pPr lvl="1"/>
            <a:r>
              <a:rPr lang="en-IN" sz="1400" dirty="0">
                <a:solidFill>
                  <a:schemeClr val="tx1"/>
                </a:solidFill>
              </a:rPr>
              <a:t>Indicates irregular fluctuations in </a:t>
            </a:r>
            <a:r>
              <a:rPr lang="en-IN" sz="1400" dirty="0" err="1">
                <a:solidFill>
                  <a:schemeClr val="tx1"/>
                </a:solidFill>
              </a:rPr>
              <a:t>fetal</a:t>
            </a:r>
            <a:r>
              <a:rPr lang="en-IN" sz="1400" dirty="0">
                <a:solidFill>
                  <a:schemeClr val="tx1"/>
                </a:solidFill>
              </a:rPr>
              <a:t> heart rate; highly associated with pathological states.</a:t>
            </a:r>
            <a:endParaRPr lang="en-IN" sz="1200" dirty="0">
              <a:solidFill>
                <a:schemeClr val="tx1"/>
              </a:solidFill>
            </a:endParaRPr>
          </a:p>
          <a:p>
            <a:pPr lvl="0"/>
            <a:r>
              <a:rPr lang="en-IN" sz="1400" b="1" dirty="0">
                <a:solidFill>
                  <a:schemeClr val="tx1"/>
                </a:solidFill>
              </a:rPr>
              <a:t>Percentage of Time with Abnormal Long-Term Variability (r = 0.43)</a:t>
            </a:r>
            <a:endParaRPr lang="en-IN" sz="1200" dirty="0">
              <a:solidFill>
                <a:schemeClr val="tx1"/>
              </a:solidFill>
            </a:endParaRPr>
          </a:p>
          <a:p>
            <a:pPr lvl="1"/>
            <a:r>
              <a:rPr lang="en-IN" sz="1400" dirty="0">
                <a:solidFill>
                  <a:schemeClr val="tx1"/>
                </a:solidFill>
              </a:rPr>
              <a:t>Extended periods of abnormal variability suggest long-term </a:t>
            </a:r>
            <a:r>
              <a:rPr lang="en-IN" sz="1400" dirty="0" err="1">
                <a:solidFill>
                  <a:schemeClr val="tx1"/>
                </a:solidFill>
              </a:rPr>
              <a:t>fetal</a:t>
            </a:r>
            <a:r>
              <a:rPr lang="en-IN" sz="1400" dirty="0">
                <a:solidFill>
                  <a:schemeClr val="tx1"/>
                </a:solidFill>
              </a:rPr>
              <a:t> compromise.</a:t>
            </a:r>
            <a:endParaRPr lang="en-IN" sz="1200" dirty="0">
              <a:solidFill>
                <a:schemeClr val="tx1"/>
              </a:solidFill>
            </a:endParaRPr>
          </a:p>
          <a:p>
            <a:pPr lvl="0"/>
            <a:r>
              <a:rPr lang="en-IN" sz="1400" b="1" dirty="0">
                <a:solidFill>
                  <a:schemeClr val="tx1"/>
                </a:solidFill>
              </a:rPr>
              <a:t>Histogram Variance (r = 0.21)</a:t>
            </a:r>
            <a:endParaRPr lang="en-IN" sz="1200" dirty="0">
              <a:solidFill>
                <a:schemeClr val="tx1"/>
              </a:solidFill>
            </a:endParaRPr>
          </a:p>
          <a:p>
            <a:pPr lvl="1"/>
            <a:r>
              <a:rPr lang="en-IN" sz="1400" dirty="0">
                <a:solidFill>
                  <a:schemeClr val="tx1"/>
                </a:solidFill>
              </a:rPr>
              <a:t>Increased variability in the </a:t>
            </a:r>
            <a:r>
              <a:rPr lang="en-IN" sz="1400" dirty="0" err="1">
                <a:solidFill>
                  <a:schemeClr val="tx1"/>
                </a:solidFill>
              </a:rPr>
              <a:t>fetal</a:t>
            </a:r>
            <a:r>
              <a:rPr lang="en-IN" sz="1400" dirty="0">
                <a:solidFill>
                  <a:schemeClr val="tx1"/>
                </a:solidFill>
              </a:rPr>
              <a:t> heart rate histogram may reflect instability in the </a:t>
            </a:r>
            <a:r>
              <a:rPr lang="en-IN" sz="1400" dirty="0" err="1">
                <a:solidFill>
                  <a:schemeClr val="tx1"/>
                </a:solidFill>
              </a:rPr>
              <a:t>fetus</a:t>
            </a:r>
            <a:r>
              <a:rPr lang="en-IN" sz="1400" dirty="0">
                <a:solidFill>
                  <a:schemeClr val="tx1"/>
                </a:solidFill>
              </a:rPr>
              <a:t>.</a:t>
            </a:r>
            <a:endParaRPr lang="en-IN" sz="1200" dirty="0">
              <a:solidFill>
                <a:schemeClr val="tx1"/>
              </a:solidFill>
            </a:endParaRPr>
          </a:p>
          <a:p>
            <a:r>
              <a:rPr lang="en-IN" sz="1400" b="1" dirty="0">
                <a:solidFill>
                  <a:schemeClr val="tx1"/>
                </a:solidFill>
              </a:rPr>
              <a:t> </a:t>
            </a:r>
            <a:endParaRPr lang="en-IN" sz="1200" dirty="0">
              <a:solidFill>
                <a:schemeClr val="tx1"/>
              </a:solidFill>
            </a:endParaRPr>
          </a:p>
          <a:p>
            <a:r>
              <a:rPr lang="en-IN" sz="1400" b="1" dirty="0">
                <a:solidFill>
                  <a:schemeClr val="tx1"/>
                </a:solidFill>
              </a:rPr>
              <a:t>Top Negatively Correlated Features (Healthy Indicators)</a:t>
            </a:r>
            <a:endParaRPr lang="en-IN" sz="1200" dirty="0">
              <a:solidFill>
                <a:schemeClr val="tx1"/>
              </a:solidFill>
            </a:endParaRPr>
          </a:p>
          <a:p>
            <a:pPr lvl="0"/>
            <a:r>
              <a:rPr lang="en-IN" sz="1400" b="1" dirty="0">
                <a:solidFill>
                  <a:schemeClr val="tx1"/>
                </a:solidFill>
              </a:rPr>
              <a:t>Accelerations (r = -0.36)</a:t>
            </a:r>
            <a:endParaRPr lang="en-IN" sz="1200" dirty="0">
              <a:solidFill>
                <a:schemeClr val="tx1"/>
              </a:solidFill>
            </a:endParaRPr>
          </a:p>
          <a:p>
            <a:pPr lvl="1"/>
            <a:r>
              <a:rPr lang="en-IN" sz="1400" dirty="0">
                <a:solidFill>
                  <a:schemeClr val="tx1"/>
                </a:solidFill>
              </a:rPr>
              <a:t>Healthy </a:t>
            </a:r>
            <a:r>
              <a:rPr lang="en-IN" sz="1400" dirty="0" err="1">
                <a:solidFill>
                  <a:schemeClr val="tx1"/>
                </a:solidFill>
              </a:rPr>
              <a:t>fetuses</a:t>
            </a:r>
            <a:r>
              <a:rPr lang="en-IN" sz="1400" dirty="0">
                <a:solidFill>
                  <a:schemeClr val="tx1"/>
                </a:solidFill>
              </a:rPr>
              <a:t> typically show more heart rate accelerations; fewer accelerations are linked with distress.</a:t>
            </a:r>
            <a:endParaRPr lang="en-IN" sz="1200" dirty="0">
              <a:solidFill>
                <a:schemeClr val="tx1"/>
              </a:solidFill>
            </a:endParaRPr>
          </a:p>
          <a:p>
            <a:pPr lvl="0"/>
            <a:r>
              <a:rPr lang="en-IN" sz="1400" b="1" dirty="0">
                <a:solidFill>
                  <a:schemeClr val="tx1"/>
                </a:solidFill>
              </a:rPr>
              <a:t>Histogram Mode, Mean, and Median (r ≈ -0.25 to -0.20)</a:t>
            </a:r>
            <a:endParaRPr lang="en-IN" sz="1200" dirty="0">
              <a:solidFill>
                <a:schemeClr val="tx1"/>
              </a:solidFill>
            </a:endParaRPr>
          </a:p>
          <a:p>
            <a:pPr lvl="1"/>
            <a:r>
              <a:rPr lang="en-IN" sz="1400" dirty="0">
                <a:solidFill>
                  <a:schemeClr val="tx1"/>
                </a:solidFill>
              </a:rPr>
              <a:t>Lower values of these central tendency measures suggest pathological trends in heart rate distribution.</a:t>
            </a:r>
            <a:endParaRPr lang="en-IN" sz="1200" dirty="0">
              <a:solidFill>
                <a:schemeClr val="tx1"/>
              </a:solidFill>
            </a:endParaRPr>
          </a:p>
          <a:p>
            <a:pPr lvl="0"/>
            <a:r>
              <a:rPr lang="en-IN" sz="1400" b="1" dirty="0">
                <a:solidFill>
                  <a:schemeClr val="tx1"/>
                </a:solidFill>
              </a:rPr>
              <a:t>Mean Value of Long-Term Variability (r = -0.23)</a:t>
            </a:r>
            <a:endParaRPr lang="en-IN" sz="1200" dirty="0">
              <a:solidFill>
                <a:schemeClr val="tx1"/>
              </a:solidFill>
            </a:endParaRPr>
          </a:p>
          <a:p>
            <a:pPr lvl="1"/>
            <a:r>
              <a:rPr lang="en-IN" sz="1400" dirty="0">
                <a:solidFill>
                  <a:schemeClr val="tx1"/>
                </a:solidFill>
              </a:rPr>
              <a:t>Consistently lower values are linked to compromised </a:t>
            </a:r>
            <a:r>
              <a:rPr lang="en-IN" sz="1400" dirty="0" err="1">
                <a:solidFill>
                  <a:schemeClr val="tx1"/>
                </a:solidFill>
              </a:rPr>
              <a:t>fetal</a:t>
            </a:r>
            <a:r>
              <a:rPr lang="en-IN" sz="1400" dirty="0">
                <a:solidFill>
                  <a:schemeClr val="tx1"/>
                </a:solidFill>
              </a:rPr>
              <a:t> conditions.</a:t>
            </a:r>
            <a:endParaRPr lang="en-IN" sz="1200" dirty="0">
              <a:solidFill>
                <a:schemeClr val="tx1"/>
              </a:solidFill>
            </a:endParaRPr>
          </a:p>
          <a:p>
            <a:pPr lvl="0"/>
            <a:r>
              <a:rPr lang="en-IN" sz="1400" b="1" dirty="0">
                <a:solidFill>
                  <a:schemeClr val="tx1"/>
                </a:solidFill>
              </a:rPr>
              <a:t>Uterine Contractions (r = -0.20)</a:t>
            </a:r>
            <a:endParaRPr lang="en-IN" sz="1200" dirty="0">
              <a:solidFill>
                <a:schemeClr val="tx1"/>
              </a:solidFill>
            </a:endParaRPr>
          </a:p>
          <a:p>
            <a:pPr lvl="1"/>
            <a:r>
              <a:rPr lang="en-IN" sz="1400" dirty="0">
                <a:solidFill>
                  <a:schemeClr val="tx1"/>
                </a:solidFill>
              </a:rPr>
              <a:t>Slight inverse relationship; could be due to complex interaction effects with other features.</a:t>
            </a:r>
            <a:endParaRPr lang="en-IN" sz="1200" dirty="0">
              <a:solidFill>
                <a:schemeClr val="tx1"/>
              </a:solidFill>
            </a:endParaRPr>
          </a:p>
          <a:p>
            <a:pPr algn="ctr"/>
            <a:endParaRPr lang="en-IN" sz="1400" dirty="0">
              <a:solidFill>
                <a:schemeClr val="tx1"/>
              </a:solidFill>
            </a:endParaRPr>
          </a:p>
        </p:txBody>
      </p:sp>
      <p:sp>
        <p:nvSpPr>
          <p:cNvPr id="5" name="Rectangle 4"/>
          <p:cNvSpPr/>
          <p:nvPr/>
        </p:nvSpPr>
        <p:spPr>
          <a:xfrm>
            <a:off x="785004" y="3933646"/>
            <a:ext cx="3959524" cy="22773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This analysis identifies the 10 most influential</a:t>
            </a:r>
            <a:r>
              <a:rPr lang="en-IN" b="1" dirty="0">
                <a:solidFill>
                  <a:schemeClr val="tx1"/>
                </a:solidFill>
              </a:rPr>
              <a:t> </a:t>
            </a:r>
            <a:r>
              <a:rPr lang="en-IN" dirty="0">
                <a:solidFill>
                  <a:schemeClr val="tx1"/>
                </a:solidFill>
              </a:rPr>
              <a:t>features that are statistically correlated with </a:t>
            </a:r>
            <a:r>
              <a:rPr lang="en-IN" dirty="0" err="1">
                <a:solidFill>
                  <a:schemeClr val="tx1"/>
                </a:solidFill>
              </a:rPr>
              <a:t>fetal</a:t>
            </a:r>
            <a:r>
              <a:rPr lang="en-IN" dirty="0">
                <a:solidFill>
                  <a:schemeClr val="tx1"/>
                </a:solidFill>
              </a:rPr>
              <a:t> health. A positive correlation indicates a higher value of the feature is associated with poorer </a:t>
            </a:r>
            <a:r>
              <a:rPr lang="en-IN" dirty="0" err="1">
                <a:solidFill>
                  <a:schemeClr val="tx1"/>
                </a:solidFill>
              </a:rPr>
              <a:t>fetal</a:t>
            </a:r>
            <a:r>
              <a:rPr lang="en-IN" dirty="0">
                <a:solidFill>
                  <a:schemeClr val="tx1"/>
                </a:solidFill>
              </a:rPr>
              <a:t> health (moving toward class 3), while a negative correlation indicates the opposite.</a:t>
            </a:r>
          </a:p>
          <a:p>
            <a:pPr algn="ctr"/>
            <a:endParaRPr lang="en-IN" dirty="0"/>
          </a:p>
        </p:txBody>
      </p:sp>
    </p:spTree>
    <p:extLst>
      <p:ext uri="{BB962C8B-B14F-4D97-AF65-F5344CB8AC3E}">
        <p14:creationId xmlns:p14="http://schemas.microsoft.com/office/powerpoint/2010/main" val="3510642636"/>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383547" y="707366"/>
            <a:ext cx="5279366" cy="541738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True Positives:</a:t>
            </a:r>
            <a:endParaRPr lang="en-IN" dirty="0">
              <a:solidFill>
                <a:schemeClr val="tx1"/>
              </a:solidFill>
            </a:endParaRPr>
          </a:p>
          <a:p>
            <a:pPr lvl="0"/>
            <a:r>
              <a:rPr lang="en-IN" dirty="0">
                <a:solidFill>
                  <a:schemeClr val="tx1"/>
                </a:solidFill>
              </a:rPr>
              <a:t>Normal: 475</a:t>
            </a:r>
          </a:p>
          <a:p>
            <a:pPr lvl="0"/>
            <a:r>
              <a:rPr lang="en-IN" dirty="0">
                <a:solidFill>
                  <a:schemeClr val="tx1"/>
                </a:solidFill>
              </a:rPr>
              <a:t>Suspect: 67</a:t>
            </a:r>
          </a:p>
          <a:p>
            <a:pPr lvl="0"/>
            <a:r>
              <a:rPr lang="en-IN" dirty="0">
                <a:solidFill>
                  <a:schemeClr val="tx1"/>
                </a:solidFill>
              </a:rPr>
              <a:t>Pathological: 50</a:t>
            </a:r>
          </a:p>
          <a:p>
            <a:r>
              <a:rPr lang="en-IN" dirty="0">
                <a:solidFill>
                  <a:schemeClr val="tx1"/>
                </a:solidFill>
              </a:rPr>
              <a:t>·  </a:t>
            </a:r>
            <a:r>
              <a:rPr lang="en-IN" b="1" dirty="0">
                <a:solidFill>
                  <a:schemeClr val="tx1"/>
                </a:solidFill>
              </a:rPr>
              <a:t>Misclassifications:</a:t>
            </a:r>
            <a:endParaRPr lang="en-IN" dirty="0">
              <a:solidFill>
                <a:schemeClr val="tx1"/>
              </a:solidFill>
            </a:endParaRPr>
          </a:p>
          <a:p>
            <a:pPr lvl="0"/>
            <a:r>
              <a:rPr lang="en-IN" dirty="0">
                <a:solidFill>
                  <a:schemeClr val="tx1"/>
                </a:solidFill>
              </a:rPr>
              <a:t>18 instances of Suspect were incorrectly classified as Normal.</a:t>
            </a:r>
          </a:p>
          <a:p>
            <a:pPr lvl="0"/>
            <a:r>
              <a:rPr lang="en-IN" dirty="0">
                <a:solidFill>
                  <a:schemeClr val="tx1"/>
                </a:solidFill>
              </a:rPr>
              <a:t>15 instances of Normal were misclassified as Suspect.</a:t>
            </a:r>
          </a:p>
          <a:p>
            <a:pPr lvl="0"/>
            <a:r>
              <a:rPr lang="en-IN" dirty="0">
                <a:solidFill>
                  <a:schemeClr val="tx1"/>
                </a:solidFill>
              </a:rPr>
              <a:t>3 instances of Suspect were misclassified as Pathological.</a:t>
            </a:r>
          </a:p>
          <a:p>
            <a:pPr lvl="0"/>
            <a:r>
              <a:rPr lang="en-IN" dirty="0">
                <a:solidFill>
                  <a:schemeClr val="tx1"/>
                </a:solidFill>
              </a:rPr>
              <a:t>7 instances of Normal were misclassified as Pathological.</a:t>
            </a:r>
          </a:p>
          <a:p>
            <a:pPr lvl="0"/>
            <a:r>
              <a:rPr lang="en-IN" dirty="0">
                <a:solidFill>
                  <a:schemeClr val="tx1"/>
                </a:solidFill>
              </a:rPr>
              <a:t>2 instances of Pathological were misclassified as Normal.</a:t>
            </a:r>
          </a:p>
          <a:p>
            <a:pPr lvl="0"/>
            <a:r>
              <a:rPr lang="en-IN" dirty="0">
                <a:solidFill>
                  <a:schemeClr val="tx1"/>
                </a:solidFill>
              </a:rPr>
              <a:t>1 instance of Pathological was misclassified as Suspect.</a:t>
            </a:r>
          </a:p>
          <a:p>
            <a:r>
              <a:rPr lang="en-IN" dirty="0">
                <a:solidFill>
                  <a:schemeClr val="tx1"/>
                </a:solidFill>
              </a:rPr>
              <a:t>·  </a:t>
            </a:r>
            <a:r>
              <a:rPr lang="en-IN" b="1" dirty="0">
                <a:solidFill>
                  <a:schemeClr val="tx1"/>
                </a:solidFill>
              </a:rPr>
              <a:t>Observations:</a:t>
            </a:r>
            <a:endParaRPr lang="en-IN" dirty="0">
              <a:solidFill>
                <a:schemeClr val="tx1"/>
              </a:solidFill>
            </a:endParaRPr>
          </a:p>
          <a:p>
            <a:pPr lvl="0"/>
            <a:r>
              <a:rPr lang="en-IN" dirty="0">
                <a:solidFill>
                  <a:schemeClr val="tx1"/>
                </a:solidFill>
              </a:rPr>
              <a:t>Very high performance for Normal and Pathological classes.</a:t>
            </a:r>
          </a:p>
          <a:p>
            <a:pPr lvl="0"/>
            <a:r>
              <a:rPr lang="en-IN" dirty="0">
                <a:solidFill>
                  <a:schemeClr val="tx1"/>
                </a:solidFill>
              </a:rPr>
              <a:t>Minimal confusion across classes, though Suspect remains more ambiguous.</a:t>
            </a:r>
          </a:p>
          <a:p>
            <a:pPr algn="ctr"/>
            <a:endParaRPr lang="en-IN" dirty="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797596" y="1000664"/>
            <a:ext cx="5447929" cy="4779034"/>
          </a:xfrm>
          <a:prstGeom prst="rect">
            <a:avLst/>
          </a:prstGeom>
        </p:spPr>
      </p:pic>
    </p:spTree>
    <p:extLst>
      <p:ext uri="{BB962C8B-B14F-4D97-AF65-F5344CB8AC3E}">
        <p14:creationId xmlns:p14="http://schemas.microsoft.com/office/powerpoint/2010/main" val="229119490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219645" y="785004"/>
            <a:ext cx="5218981" cy="5253487"/>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  </a:t>
            </a:r>
            <a:r>
              <a:rPr lang="en-IN" b="1" dirty="0">
                <a:solidFill>
                  <a:schemeClr val="tx1"/>
                </a:solidFill>
              </a:rPr>
              <a:t>True Positives:</a:t>
            </a:r>
            <a:endParaRPr lang="en-IN" dirty="0">
              <a:solidFill>
                <a:schemeClr val="tx1"/>
              </a:solidFill>
            </a:endParaRPr>
          </a:p>
          <a:p>
            <a:pPr lvl="0"/>
            <a:r>
              <a:rPr lang="en-IN" dirty="0">
                <a:solidFill>
                  <a:schemeClr val="tx1"/>
                </a:solidFill>
              </a:rPr>
              <a:t>Normal: 418</a:t>
            </a:r>
          </a:p>
          <a:p>
            <a:pPr lvl="0"/>
            <a:r>
              <a:rPr lang="en-IN" dirty="0">
                <a:solidFill>
                  <a:schemeClr val="tx1"/>
                </a:solidFill>
              </a:rPr>
              <a:t>Suspect: 74</a:t>
            </a:r>
          </a:p>
          <a:p>
            <a:pPr lvl="0"/>
            <a:r>
              <a:rPr lang="en-IN" dirty="0">
                <a:solidFill>
                  <a:schemeClr val="tx1"/>
                </a:solidFill>
              </a:rPr>
              <a:t>Pathological: 41</a:t>
            </a:r>
          </a:p>
          <a:p>
            <a:r>
              <a:rPr lang="en-IN" dirty="0">
                <a:solidFill>
                  <a:schemeClr val="tx1"/>
                </a:solidFill>
              </a:rPr>
              <a:t>·  </a:t>
            </a:r>
            <a:r>
              <a:rPr lang="en-IN" b="1" dirty="0">
                <a:solidFill>
                  <a:schemeClr val="tx1"/>
                </a:solidFill>
              </a:rPr>
              <a:t>Misclassifications:</a:t>
            </a:r>
            <a:endParaRPr lang="en-IN" dirty="0">
              <a:solidFill>
                <a:schemeClr val="tx1"/>
              </a:solidFill>
            </a:endParaRPr>
          </a:p>
          <a:p>
            <a:pPr lvl="0"/>
            <a:r>
              <a:rPr lang="en-IN" dirty="0">
                <a:solidFill>
                  <a:schemeClr val="tx1"/>
                </a:solidFill>
              </a:rPr>
              <a:t>73 instances of Normal were misclassified as Suspect.</a:t>
            </a:r>
          </a:p>
          <a:p>
            <a:pPr lvl="0"/>
            <a:r>
              <a:rPr lang="en-IN" dirty="0">
                <a:solidFill>
                  <a:schemeClr val="tx1"/>
                </a:solidFill>
              </a:rPr>
              <a:t>7 instances of Suspect were misclassified as Normal.</a:t>
            </a:r>
          </a:p>
          <a:p>
            <a:pPr lvl="0"/>
            <a:r>
              <a:rPr lang="en-IN" dirty="0">
                <a:solidFill>
                  <a:schemeClr val="tx1"/>
                </a:solidFill>
              </a:rPr>
              <a:t>7 instances of Suspect were misclassified as Pathological.</a:t>
            </a:r>
          </a:p>
          <a:p>
            <a:pPr lvl="0"/>
            <a:r>
              <a:rPr lang="en-IN" dirty="0">
                <a:solidFill>
                  <a:schemeClr val="tx1"/>
                </a:solidFill>
              </a:rPr>
              <a:t>6 instances of Normal were misclassified as Pathological.</a:t>
            </a:r>
          </a:p>
          <a:p>
            <a:pPr lvl="0"/>
            <a:r>
              <a:rPr lang="en-IN" dirty="0">
                <a:solidFill>
                  <a:schemeClr val="tx1"/>
                </a:solidFill>
              </a:rPr>
              <a:t>1 instance of Pathological was misclassified as Normal.</a:t>
            </a:r>
          </a:p>
          <a:p>
            <a:pPr lvl="0"/>
            <a:r>
              <a:rPr lang="en-IN" dirty="0">
                <a:solidFill>
                  <a:schemeClr val="tx1"/>
                </a:solidFill>
              </a:rPr>
              <a:t>11 instances of Pathological were misclassified as Suspect.</a:t>
            </a:r>
          </a:p>
          <a:p>
            <a:r>
              <a:rPr lang="en-IN" dirty="0">
                <a:solidFill>
                  <a:schemeClr val="tx1"/>
                </a:solidFill>
              </a:rPr>
              <a:t>·  </a:t>
            </a:r>
            <a:r>
              <a:rPr lang="en-IN" b="1" dirty="0">
                <a:solidFill>
                  <a:schemeClr val="tx1"/>
                </a:solidFill>
              </a:rPr>
              <a:t>Observations:</a:t>
            </a:r>
            <a:endParaRPr lang="en-IN" dirty="0">
              <a:solidFill>
                <a:schemeClr val="tx1"/>
              </a:solidFill>
            </a:endParaRPr>
          </a:p>
          <a:p>
            <a:pPr lvl="0"/>
            <a:r>
              <a:rPr lang="en-IN" dirty="0">
                <a:solidFill>
                  <a:schemeClr val="tx1"/>
                </a:solidFill>
              </a:rPr>
              <a:t>Reasonable classification of Suspect.</a:t>
            </a:r>
          </a:p>
          <a:p>
            <a:pPr lvl="0"/>
            <a:r>
              <a:rPr lang="en-IN" dirty="0">
                <a:solidFill>
                  <a:schemeClr val="tx1"/>
                </a:solidFill>
              </a:rPr>
              <a:t>Notable confusion between Normal and Suspect.</a:t>
            </a:r>
          </a:p>
          <a:p>
            <a:pPr lvl="0"/>
            <a:r>
              <a:rPr lang="en-IN" dirty="0">
                <a:solidFill>
                  <a:schemeClr val="tx1"/>
                </a:solidFill>
              </a:rPr>
              <a:t>Struggles slightly more with Pathological classification.</a:t>
            </a:r>
          </a:p>
          <a:p>
            <a:pPr algn="ctr"/>
            <a:endParaRPr lang="en-IN" dirty="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836761" y="785004"/>
            <a:ext cx="5382883" cy="4891177"/>
          </a:xfrm>
          <a:prstGeom prst="rect">
            <a:avLst/>
          </a:prstGeom>
        </p:spPr>
      </p:pic>
    </p:spTree>
    <p:extLst>
      <p:ext uri="{BB962C8B-B14F-4D97-AF65-F5344CB8AC3E}">
        <p14:creationId xmlns:p14="http://schemas.microsoft.com/office/powerpoint/2010/main" val="15239859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57336" y="905774"/>
            <a:ext cx="5727939" cy="5098211"/>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IN" b="1" dirty="0">
                <a:solidFill>
                  <a:schemeClr val="tx1"/>
                </a:solidFill>
              </a:rPr>
              <a:t>True Positives:</a:t>
            </a:r>
            <a:endParaRPr lang="en-IN" sz="1600" dirty="0">
              <a:solidFill>
                <a:schemeClr val="tx1"/>
              </a:solidFill>
            </a:endParaRPr>
          </a:p>
          <a:p>
            <a:pPr lvl="1"/>
            <a:r>
              <a:rPr lang="en-IN" dirty="0">
                <a:solidFill>
                  <a:schemeClr val="tx1"/>
                </a:solidFill>
              </a:rPr>
              <a:t>Normal: 479</a:t>
            </a:r>
            <a:endParaRPr lang="en-IN" sz="1600" dirty="0">
              <a:solidFill>
                <a:schemeClr val="tx1"/>
              </a:solidFill>
            </a:endParaRPr>
          </a:p>
          <a:p>
            <a:pPr lvl="1"/>
            <a:r>
              <a:rPr lang="en-IN" dirty="0">
                <a:solidFill>
                  <a:schemeClr val="tx1"/>
                </a:solidFill>
              </a:rPr>
              <a:t>Suspect: 62</a:t>
            </a:r>
            <a:endParaRPr lang="en-IN" sz="1600" dirty="0">
              <a:solidFill>
                <a:schemeClr val="tx1"/>
              </a:solidFill>
            </a:endParaRPr>
          </a:p>
          <a:p>
            <a:pPr lvl="1"/>
            <a:r>
              <a:rPr lang="en-IN" dirty="0">
                <a:solidFill>
                  <a:schemeClr val="tx1"/>
                </a:solidFill>
              </a:rPr>
              <a:t>Pathological: 50</a:t>
            </a:r>
            <a:endParaRPr lang="en-IN" sz="1600" dirty="0">
              <a:solidFill>
                <a:schemeClr val="tx1"/>
              </a:solidFill>
            </a:endParaRPr>
          </a:p>
          <a:p>
            <a:pPr lvl="0"/>
            <a:r>
              <a:rPr lang="en-IN" b="1" dirty="0">
                <a:solidFill>
                  <a:schemeClr val="tx1"/>
                </a:solidFill>
              </a:rPr>
              <a:t>Misclassifications:</a:t>
            </a:r>
            <a:endParaRPr lang="en-IN" sz="1600" dirty="0">
              <a:solidFill>
                <a:schemeClr val="tx1"/>
              </a:solidFill>
            </a:endParaRPr>
          </a:p>
          <a:p>
            <a:pPr lvl="1"/>
            <a:r>
              <a:rPr lang="en-IN" dirty="0">
                <a:solidFill>
                  <a:schemeClr val="tx1"/>
                </a:solidFill>
              </a:rPr>
              <a:t>19 instances of Suspect were misclassified as Normal.</a:t>
            </a:r>
            <a:endParaRPr lang="en-IN" sz="1600" dirty="0">
              <a:solidFill>
                <a:schemeClr val="tx1"/>
              </a:solidFill>
            </a:endParaRPr>
          </a:p>
          <a:p>
            <a:pPr lvl="1"/>
            <a:r>
              <a:rPr lang="en-IN" dirty="0">
                <a:solidFill>
                  <a:schemeClr val="tx1"/>
                </a:solidFill>
              </a:rPr>
              <a:t>12 instances of Normal were misclassified as Suspect.</a:t>
            </a:r>
            <a:endParaRPr lang="en-IN" sz="1600" dirty="0">
              <a:solidFill>
                <a:schemeClr val="tx1"/>
              </a:solidFill>
            </a:endParaRPr>
          </a:p>
          <a:p>
            <a:pPr lvl="1"/>
            <a:r>
              <a:rPr lang="en-IN" dirty="0">
                <a:solidFill>
                  <a:schemeClr val="tx1"/>
                </a:solidFill>
              </a:rPr>
              <a:t>7 instances of Suspect were misclassified as Pathological.</a:t>
            </a:r>
            <a:endParaRPr lang="en-IN" sz="1600" dirty="0">
              <a:solidFill>
                <a:schemeClr val="tx1"/>
              </a:solidFill>
            </a:endParaRPr>
          </a:p>
          <a:p>
            <a:pPr lvl="1"/>
            <a:r>
              <a:rPr lang="en-IN" dirty="0">
                <a:solidFill>
                  <a:schemeClr val="tx1"/>
                </a:solidFill>
              </a:rPr>
              <a:t>6 instances of Normal were misclassified as Pathological.</a:t>
            </a:r>
            <a:endParaRPr lang="en-IN" sz="1600" dirty="0">
              <a:solidFill>
                <a:schemeClr val="tx1"/>
              </a:solidFill>
            </a:endParaRPr>
          </a:p>
          <a:p>
            <a:pPr lvl="1"/>
            <a:r>
              <a:rPr lang="en-IN" dirty="0">
                <a:solidFill>
                  <a:schemeClr val="tx1"/>
                </a:solidFill>
              </a:rPr>
              <a:t>2 instances of Pathological were misclassified as Normal.</a:t>
            </a:r>
            <a:endParaRPr lang="en-IN" sz="1600" dirty="0">
              <a:solidFill>
                <a:schemeClr val="tx1"/>
              </a:solidFill>
            </a:endParaRPr>
          </a:p>
          <a:p>
            <a:pPr lvl="1"/>
            <a:r>
              <a:rPr lang="en-IN" dirty="0">
                <a:solidFill>
                  <a:schemeClr val="tx1"/>
                </a:solidFill>
              </a:rPr>
              <a:t>1 instance of Pathological was misclassified as Suspect.</a:t>
            </a:r>
            <a:endParaRPr lang="en-IN" sz="1600" dirty="0">
              <a:solidFill>
                <a:schemeClr val="tx1"/>
              </a:solidFill>
            </a:endParaRPr>
          </a:p>
          <a:p>
            <a:pPr lvl="0"/>
            <a:r>
              <a:rPr lang="en-IN" b="1" dirty="0">
                <a:solidFill>
                  <a:schemeClr val="tx1"/>
                </a:solidFill>
              </a:rPr>
              <a:t>Observations:</a:t>
            </a:r>
            <a:endParaRPr lang="en-IN" sz="1600" dirty="0">
              <a:solidFill>
                <a:schemeClr val="tx1"/>
              </a:solidFill>
            </a:endParaRPr>
          </a:p>
          <a:p>
            <a:pPr lvl="1"/>
            <a:r>
              <a:rPr lang="en-IN" dirty="0">
                <a:solidFill>
                  <a:schemeClr val="tx1"/>
                </a:solidFill>
              </a:rPr>
              <a:t>Comparable performance to Random Forest.</a:t>
            </a:r>
            <a:endParaRPr lang="en-IN" sz="1600" dirty="0">
              <a:solidFill>
                <a:schemeClr val="tx1"/>
              </a:solidFill>
            </a:endParaRPr>
          </a:p>
          <a:p>
            <a:pPr lvl="1"/>
            <a:r>
              <a:rPr lang="en-IN" dirty="0">
                <a:solidFill>
                  <a:schemeClr val="tx1"/>
                </a:solidFill>
              </a:rPr>
              <a:t>Strong classification for Normal and Pathological</a:t>
            </a:r>
            <a:r>
              <a:rPr lang="en-IN" dirty="0" smtClean="0">
                <a:solidFill>
                  <a:schemeClr val="tx1"/>
                </a:solidFill>
              </a:rPr>
              <a:t>.</a:t>
            </a:r>
          </a:p>
          <a:p>
            <a:pPr lvl="1"/>
            <a:r>
              <a:rPr lang="en-IN" dirty="0" smtClean="0">
                <a:solidFill>
                  <a:schemeClr val="tx1"/>
                </a:solidFill>
              </a:rPr>
              <a:t>Slightly </a:t>
            </a:r>
            <a:r>
              <a:rPr lang="en-IN" dirty="0">
                <a:solidFill>
                  <a:schemeClr val="tx1"/>
                </a:solidFill>
              </a:rPr>
              <a:t>more confusion in identifying Suspect cases</a:t>
            </a:r>
            <a:r>
              <a:rPr lang="en-IN" dirty="0" smtClean="0">
                <a:solidFill>
                  <a:schemeClr val="tx1"/>
                </a:solidFill>
              </a:rPr>
              <a:t>.</a:t>
            </a:r>
            <a:endParaRPr lang="en-IN" sz="1600" dirty="0">
              <a:solidFill>
                <a:schemeClr val="tx1"/>
              </a:solidFill>
            </a:endParaRP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685452" y="1003481"/>
            <a:ext cx="5171884" cy="4298950"/>
          </a:xfrm>
          <a:prstGeom prst="rect">
            <a:avLst/>
          </a:prstGeom>
        </p:spPr>
      </p:pic>
    </p:spTree>
    <p:extLst>
      <p:ext uri="{BB962C8B-B14F-4D97-AF65-F5344CB8AC3E}">
        <p14:creationId xmlns:p14="http://schemas.microsoft.com/office/powerpoint/2010/main" val="48924739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35502" y="1104181"/>
            <a:ext cx="9342407" cy="471864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General Observations:</a:t>
            </a:r>
          </a:p>
          <a:p>
            <a:pPr lvl="0"/>
            <a:r>
              <a:rPr lang="en-IN" b="1" dirty="0">
                <a:solidFill>
                  <a:schemeClr val="tx1"/>
                </a:solidFill>
              </a:rPr>
              <a:t>Pathological Classification:</a:t>
            </a:r>
            <a:endParaRPr lang="en-IN" sz="1600" dirty="0">
              <a:solidFill>
                <a:schemeClr val="tx1"/>
              </a:solidFill>
            </a:endParaRPr>
          </a:p>
          <a:p>
            <a:pPr lvl="1"/>
            <a:r>
              <a:rPr lang="en-IN" dirty="0">
                <a:solidFill>
                  <a:schemeClr val="tx1"/>
                </a:solidFill>
              </a:rPr>
              <a:t>All models perform strongly on the Pathological class.</a:t>
            </a:r>
            <a:endParaRPr lang="en-IN" sz="1600" dirty="0">
              <a:solidFill>
                <a:schemeClr val="tx1"/>
              </a:solidFill>
            </a:endParaRPr>
          </a:p>
          <a:p>
            <a:pPr lvl="1"/>
            <a:r>
              <a:rPr lang="en-IN" dirty="0">
                <a:solidFill>
                  <a:schemeClr val="tx1"/>
                </a:solidFill>
              </a:rPr>
              <a:t>Random Forest and </a:t>
            </a:r>
            <a:r>
              <a:rPr lang="en-IN" dirty="0" err="1">
                <a:solidFill>
                  <a:schemeClr val="tx1"/>
                </a:solidFill>
              </a:rPr>
              <a:t>XGBoost</a:t>
            </a:r>
            <a:r>
              <a:rPr lang="en-IN" dirty="0">
                <a:solidFill>
                  <a:schemeClr val="tx1"/>
                </a:solidFill>
              </a:rPr>
              <a:t> especially show minimal to no misclassifications</a:t>
            </a:r>
            <a:r>
              <a:rPr lang="en-IN" b="1" dirty="0">
                <a:solidFill>
                  <a:schemeClr val="tx1"/>
                </a:solidFill>
              </a:rPr>
              <a:t>.</a:t>
            </a:r>
            <a:endParaRPr lang="en-IN" sz="1600" dirty="0">
              <a:solidFill>
                <a:schemeClr val="tx1"/>
              </a:solidFill>
            </a:endParaRPr>
          </a:p>
          <a:p>
            <a:pPr lvl="1"/>
            <a:r>
              <a:rPr lang="en-IN" dirty="0">
                <a:solidFill>
                  <a:schemeClr val="tx1"/>
                </a:solidFill>
              </a:rPr>
              <a:t>Logistic Regression shows slightly more confusion, but still reasonable performance.</a:t>
            </a:r>
            <a:endParaRPr lang="en-IN" sz="1600" dirty="0">
              <a:solidFill>
                <a:schemeClr val="tx1"/>
              </a:solidFill>
            </a:endParaRPr>
          </a:p>
          <a:p>
            <a:pPr lvl="0"/>
            <a:r>
              <a:rPr lang="en-IN" b="1" dirty="0">
                <a:solidFill>
                  <a:schemeClr val="tx1"/>
                </a:solidFill>
              </a:rPr>
              <a:t>Normal vs. Suspect Confusion:</a:t>
            </a:r>
            <a:endParaRPr lang="en-IN" sz="1600" dirty="0">
              <a:solidFill>
                <a:schemeClr val="tx1"/>
              </a:solidFill>
            </a:endParaRPr>
          </a:p>
          <a:p>
            <a:pPr lvl="1"/>
            <a:r>
              <a:rPr lang="en-IN" dirty="0">
                <a:solidFill>
                  <a:schemeClr val="tx1"/>
                </a:solidFill>
              </a:rPr>
              <a:t>The main challenge across all models lies in distinguishing Normal and </a:t>
            </a:r>
            <a:r>
              <a:rPr lang="en-IN" b="1" dirty="0">
                <a:solidFill>
                  <a:schemeClr val="tx1"/>
                </a:solidFill>
              </a:rPr>
              <a:t>Suspect</a:t>
            </a:r>
            <a:r>
              <a:rPr lang="en-IN" dirty="0">
                <a:solidFill>
                  <a:schemeClr val="tx1"/>
                </a:solidFill>
              </a:rPr>
              <a:t> classes.</a:t>
            </a:r>
            <a:endParaRPr lang="en-IN" sz="1600" dirty="0">
              <a:solidFill>
                <a:schemeClr val="tx1"/>
              </a:solidFill>
            </a:endParaRPr>
          </a:p>
          <a:p>
            <a:pPr lvl="1"/>
            <a:r>
              <a:rPr lang="en-IN" dirty="0">
                <a:solidFill>
                  <a:schemeClr val="tx1"/>
                </a:solidFill>
              </a:rPr>
              <a:t>Logistic Regression particularly struggles, with high misclassification of Normal as Suspect (73 instances).</a:t>
            </a:r>
            <a:endParaRPr lang="en-IN" sz="1600" dirty="0">
              <a:solidFill>
                <a:schemeClr val="tx1"/>
              </a:solidFill>
            </a:endParaRPr>
          </a:p>
          <a:p>
            <a:pPr lvl="1"/>
            <a:r>
              <a:rPr lang="en-IN" dirty="0">
                <a:solidFill>
                  <a:schemeClr val="tx1"/>
                </a:solidFill>
              </a:rPr>
              <a:t>Random Forest and </a:t>
            </a:r>
            <a:r>
              <a:rPr lang="en-IN" dirty="0" err="1">
                <a:solidFill>
                  <a:schemeClr val="tx1"/>
                </a:solidFill>
              </a:rPr>
              <a:t>XGBoost</a:t>
            </a:r>
            <a:r>
              <a:rPr lang="en-IN" dirty="0">
                <a:solidFill>
                  <a:schemeClr val="tx1"/>
                </a:solidFill>
              </a:rPr>
              <a:t> perform significantly better in reducing these errors.</a:t>
            </a:r>
            <a:endParaRPr lang="en-IN" sz="1600" dirty="0">
              <a:solidFill>
                <a:schemeClr val="tx1"/>
              </a:solidFill>
            </a:endParaRPr>
          </a:p>
          <a:p>
            <a:pPr lvl="0"/>
            <a:r>
              <a:rPr lang="en-IN" b="1" dirty="0">
                <a:solidFill>
                  <a:schemeClr val="tx1"/>
                </a:solidFill>
              </a:rPr>
              <a:t>Model Robustness:</a:t>
            </a:r>
            <a:endParaRPr lang="en-IN" sz="1600" dirty="0">
              <a:solidFill>
                <a:schemeClr val="tx1"/>
              </a:solidFill>
            </a:endParaRPr>
          </a:p>
          <a:p>
            <a:pPr lvl="1"/>
            <a:r>
              <a:rPr lang="en-IN" dirty="0">
                <a:solidFill>
                  <a:schemeClr val="tx1"/>
                </a:solidFill>
              </a:rPr>
              <a:t>Random Forest and </a:t>
            </a:r>
            <a:r>
              <a:rPr lang="en-IN" dirty="0" err="1">
                <a:solidFill>
                  <a:schemeClr val="tx1"/>
                </a:solidFill>
              </a:rPr>
              <a:t>XGBoost</a:t>
            </a:r>
            <a:r>
              <a:rPr lang="en-IN" dirty="0">
                <a:solidFill>
                  <a:schemeClr val="tx1"/>
                </a:solidFill>
              </a:rPr>
              <a:t> demonstrate stronger robustness and higher overall accuracy, particularly in imbalanced data scenarios.</a:t>
            </a:r>
            <a:endParaRPr lang="en-IN" sz="1600" dirty="0">
              <a:solidFill>
                <a:schemeClr val="tx1"/>
              </a:solidFill>
            </a:endParaRPr>
          </a:p>
          <a:p>
            <a:pPr lvl="1"/>
            <a:r>
              <a:rPr lang="en-IN" dirty="0">
                <a:solidFill>
                  <a:schemeClr val="tx1"/>
                </a:solidFill>
              </a:rPr>
              <a:t>Logistic Regression</a:t>
            </a:r>
            <a:r>
              <a:rPr lang="en-IN" b="1" dirty="0">
                <a:solidFill>
                  <a:schemeClr val="tx1"/>
                </a:solidFill>
              </a:rPr>
              <a:t>,</a:t>
            </a:r>
            <a:r>
              <a:rPr lang="en-IN" dirty="0">
                <a:solidFill>
                  <a:schemeClr val="tx1"/>
                </a:solidFill>
              </a:rPr>
              <a:t> while interpretable and simpler, is less capable in this multi-class setting with overlapping class distributions.</a:t>
            </a:r>
            <a:endParaRPr lang="en-IN" sz="1600" dirty="0">
              <a:solidFill>
                <a:schemeClr val="tx1"/>
              </a:solidFill>
            </a:endParaRPr>
          </a:p>
          <a:p>
            <a:pPr algn="ctr"/>
            <a:endParaRPr lang="en-IN" dirty="0"/>
          </a:p>
        </p:txBody>
      </p:sp>
    </p:spTree>
    <p:extLst>
      <p:ext uri="{BB962C8B-B14F-4D97-AF65-F5344CB8AC3E}">
        <p14:creationId xmlns:p14="http://schemas.microsoft.com/office/powerpoint/2010/main" val="105223421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1966823" y="919869"/>
            <a:ext cx="7936302" cy="774065"/>
          </a:xfrm>
          <a:prstGeom prst="rect">
            <a:avLst/>
          </a:prstGeom>
        </p:spPr>
      </p:pic>
      <p:sp>
        <p:nvSpPr>
          <p:cNvPr id="5" name="Rectangle 4"/>
          <p:cNvSpPr/>
          <p:nvPr/>
        </p:nvSpPr>
        <p:spPr>
          <a:xfrm>
            <a:off x="1095556" y="1837426"/>
            <a:ext cx="10489720" cy="423557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solidFill>
                  <a:schemeClr val="tx1"/>
                </a:solidFill>
              </a:rPr>
              <a:t>Random Forest</a:t>
            </a:r>
            <a:endParaRPr lang="en-IN" sz="1600" dirty="0">
              <a:solidFill>
                <a:schemeClr val="tx1"/>
              </a:solidFill>
            </a:endParaRPr>
          </a:p>
          <a:p>
            <a:pPr lvl="0"/>
            <a:r>
              <a:rPr lang="en-IN" sz="1600" dirty="0">
                <a:solidFill>
                  <a:schemeClr val="tx1"/>
                </a:solidFill>
              </a:rPr>
              <a:t>ROC AUC: 0.9785, F1 Score: 0.9276, PR AUC: 0.9361</a:t>
            </a:r>
          </a:p>
          <a:p>
            <a:pPr lvl="0"/>
            <a:r>
              <a:rPr lang="en-IN" sz="1600" dirty="0">
                <a:solidFill>
                  <a:schemeClr val="tx1"/>
                </a:solidFill>
              </a:rPr>
              <a:t>Achieved the best overall performance across all metrics.</a:t>
            </a:r>
          </a:p>
          <a:p>
            <a:pPr lvl="0"/>
            <a:r>
              <a:rPr lang="en-IN" sz="1600" dirty="0">
                <a:solidFill>
                  <a:schemeClr val="tx1"/>
                </a:solidFill>
              </a:rPr>
              <a:t>Demonstrates strong capability to distinguish between classes and handle imbalanced data.</a:t>
            </a:r>
          </a:p>
          <a:p>
            <a:r>
              <a:rPr lang="en-IN" sz="1600" b="1" dirty="0" err="1">
                <a:solidFill>
                  <a:schemeClr val="tx1"/>
                </a:solidFill>
              </a:rPr>
              <a:t>XGBoost</a:t>
            </a:r>
            <a:endParaRPr lang="en-IN" sz="1600" dirty="0">
              <a:solidFill>
                <a:schemeClr val="tx1"/>
              </a:solidFill>
            </a:endParaRPr>
          </a:p>
          <a:p>
            <a:pPr lvl="0"/>
            <a:r>
              <a:rPr lang="en-IN" sz="1600" dirty="0">
                <a:solidFill>
                  <a:schemeClr val="tx1"/>
                </a:solidFill>
              </a:rPr>
              <a:t>ROC AUC: 0.9763, F1 Score: 0.9251, PR AUC: 0.9275</a:t>
            </a:r>
          </a:p>
          <a:p>
            <a:pPr lvl="0"/>
            <a:r>
              <a:rPr lang="en-IN" sz="1600" dirty="0">
                <a:solidFill>
                  <a:schemeClr val="tx1"/>
                </a:solidFill>
              </a:rPr>
              <a:t>Performs very closely to Random Forest, showing excellent precision and recall.</a:t>
            </a:r>
          </a:p>
          <a:p>
            <a:pPr lvl="0"/>
            <a:r>
              <a:rPr lang="en-IN" sz="1600" dirty="0">
                <a:solidFill>
                  <a:schemeClr val="tx1"/>
                </a:solidFill>
              </a:rPr>
              <a:t>Suitable for deployment due to speed, accuracy, and efficiency.</a:t>
            </a:r>
          </a:p>
          <a:p>
            <a:r>
              <a:rPr lang="en-IN" sz="1600" b="1" dirty="0">
                <a:solidFill>
                  <a:schemeClr val="tx1"/>
                </a:solidFill>
              </a:rPr>
              <a:t>🔹 Logistic Regression</a:t>
            </a:r>
            <a:endParaRPr lang="en-IN" sz="1600" dirty="0">
              <a:solidFill>
                <a:schemeClr val="tx1"/>
              </a:solidFill>
            </a:endParaRPr>
          </a:p>
          <a:p>
            <a:pPr lvl="0"/>
            <a:r>
              <a:rPr lang="en-IN" sz="1600" dirty="0">
                <a:solidFill>
                  <a:schemeClr val="tx1"/>
                </a:solidFill>
              </a:rPr>
              <a:t>ROC AUC: 0.9440, F1 Score: 0.8522, PR AUC: 0.8186</a:t>
            </a:r>
          </a:p>
          <a:p>
            <a:pPr lvl="0"/>
            <a:r>
              <a:rPr lang="en-IN" sz="1600" dirty="0">
                <a:solidFill>
                  <a:schemeClr val="tx1"/>
                </a:solidFill>
              </a:rPr>
              <a:t>Lowest performance among the three models, especially in PR AUC, indicating weaker prediction on minority classes.</a:t>
            </a:r>
          </a:p>
          <a:p>
            <a:pPr lvl="0"/>
            <a:r>
              <a:rPr lang="en-IN" sz="1600" dirty="0">
                <a:solidFill>
                  <a:schemeClr val="tx1"/>
                </a:solidFill>
              </a:rPr>
              <a:t>Still useful as a baseline, but less effective for imbalanced multiclass data</a:t>
            </a:r>
          </a:p>
          <a:p>
            <a:r>
              <a:rPr lang="en-IN" sz="1600" b="1" dirty="0">
                <a:solidFill>
                  <a:schemeClr val="tx1"/>
                </a:solidFill>
              </a:rPr>
              <a:t>Conclusion:-</a:t>
            </a:r>
            <a:endParaRPr lang="en-IN" sz="1600" dirty="0">
              <a:solidFill>
                <a:schemeClr val="tx1"/>
              </a:solidFill>
            </a:endParaRPr>
          </a:p>
          <a:p>
            <a:r>
              <a:rPr lang="en-IN" sz="1600" dirty="0">
                <a:solidFill>
                  <a:schemeClr val="tx1"/>
                </a:solidFill>
              </a:rPr>
              <a:t>Both </a:t>
            </a:r>
            <a:r>
              <a:rPr lang="en-IN" sz="1600" b="1" dirty="0">
                <a:solidFill>
                  <a:schemeClr val="tx1"/>
                </a:solidFill>
              </a:rPr>
              <a:t>Random Forest</a:t>
            </a:r>
            <a:r>
              <a:rPr lang="en-IN" sz="1600" dirty="0">
                <a:solidFill>
                  <a:schemeClr val="tx1"/>
                </a:solidFill>
              </a:rPr>
              <a:t> and </a:t>
            </a:r>
            <a:r>
              <a:rPr lang="en-IN" sz="1600" b="1" dirty="0" err="1">
                <a:solidFill>
                  <a:schemeClr val="tx1"/>
                </a:solidFill>
              </a:rPr>
              <a:t>XGBoost</a:t>
            </a:r>
            <a:r>
              <a:rPr lang="en-IN" sz="1600" dirty="0">
                <a:solidFill>
                  <a:schemeClr val="tx1"/>
                </a:solidFill>
              </a:rPr>
              <a:t> are highly effective for </a:t>
            </a:r>
            <a:r>
              <a:rPr lang="en-IN" sz="1600" dirty="0" err="1">
                <a:solidFill>
                  <a:schemeClr val="tx1"/>
                </a:solidFill>
              </a:rPr>
              <a:t>fetal</a:t>
            </a:r>
            <a:r>
              <a:rPr lang="en-IN" sz="1600" dirty="0">
                <a:solidFill>
                  <a:schemeClr val="tx1"/>
                </a:solidFill>
              </a:rPr>
              <a:t> health classification, with Random Forest slightly outperforming. </a:t>
            </a:r>
            <a:r>
              <a:rPr lang="en-IN" sz="1600" b="1" dirty="0">
                <a:solidFill>
                  <a:schemeClr val="tx1"/>
                </a:solidFill>
              </a:rPr>
              <a:t>Logistic Regression</a:t>
            </a:r>
            <a:r>
              <a:rPr lang="en-IN" sz="1600" dirty="0">
                <a:solidFill>
                  <a:schemeClr val="tx1"/>
                </a:solidFill>
              </a:rPr>
              <a:t>, while interpretable, struggles with class imbalance and complex patterns, making it less suitable for this task.</a:t>
            </a:r>
          </a:p>
          <a:p>
            <a:pPr lvl="0"/>
            <a:endParaRPr lang="en-IN" sz="1600" dirty="0">
              <a:solidFill>
                <a:schemeClr val="tx1"/>
              </a:solidFill>
            </a:endParaRPr>
          </a:p>
        </p:txBody>
      </p:sp>
    </p:spTree>
    <p:extLst>
      <p:ext uri="{BB962C8B-B14F-4D97-AF65-F5344CB8AC3E}">
        <p14:creationId xmlns:p14="http://schemas.microsoft.com/office/powerpoint/2010/main" val="6199795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877019" y="875580"/>
            <a:ext cx="5486400" cy="4572000"/>
          </a:xfrm>
          <a:prstGeom prst="rect">
            <a:avLst/>
          </a:prstGeom>
        </p:spPr>
      </p:pic>
      <p:sp>
        <p:nvSpPr>
          <p:cNvPr id="5" name="Rectangle 4"/>
          <p:cNvSpPr/>
          <p:nvPr/>
        </p:nvSpPr>
        <p:spPr>
          <a:xfrm>
            <a:off x="6918385" y="1276709"/>
            <a:ext cx="4261449" cy="407166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Clustering with k = 5</a:t>
            </a:r>
            <a:endParaRPr lang="en-IN" dirty="0">
              <a:solidFill>
                <a:schemeClr val="tx1"/>
              </a:solidFill>
            </a:endParaRPr>
          </a:p>
          <a:p>
            <a:pPr lvl="0"/>
            <a:r>
              <a:rPr lang="en-IN" dirty="0">
                <a:solidFill>
                  <a:schemeClr val="tx1"/>
                </a:solidFill>
              </a:rPr>
              <a:t>The clusters are relatively well-separated, indicating some structure in the data.</a:t>
            </a:r>
          </a:p>
          <a:p>
            <a:pPr lvl="0"/>
            <a:r>
              <a:rPr lang="en-IN" dirty="0">
                <a:solidFill>
                  <a:schemeClr val="tx1"/>
                </a:solidFill>
              </a:rPr>
              <a:t>There are five distinguishable regions, suggesting possible subgroups in the </a:t>
            </a:r>
            <a:r>
              <a:rPr lang="en-IN" dirty="0" err="1">
                <a:solidFill>
                  <a:schemeClr val="tx1"/>
                </a:solidFill>
              </a:rPr>
              <a:t>fetal</a:t>
            </a:r>
            <a:r>
              <a:rPr lang="en-IN" dirty="0">
                <a:solidFill>
                  <a:schemeClr val="tx1"/>
                </a:solidFill>
              </a:rPr>
              <a:t> health data.</a:t>
            </a:r>
          </a:p>
          <a:p>
            <a:pPr lvl="0"/>
            <a:r>
              <a:rPr lang="en-IN" dirty="0">
                <a:solidFill>
                  <a:schemeClr val="tx1"/>
                </a:solidFill>
              </a:rPr>
              <a:t>The choice of k=5 provides good separation without too much overlap, which could align with physiological subcategories beyond the three main health labels (Normal, Suspect, Pathological).</a:t>
            </a:r>
          </a:p>
          <a:p>
            <a:pPr algn="ctr"/>
            <a:endParaRPr lang="en-IN" dirty="0"/>
          </a:p>
        </p:txBody>
      </p:sp>
    </p:spTree>
    <p:extLst>
      <p:ext uri="{BB962C8B-B14F-4D97-AF65-F5344CB8AC3E}">
        <p14:creationId xmlns:p14="http://schemas.microsoft.com/office/powerpoint/2010/main" val="231223661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918385" y="1276709"/>
            <a:ext cx="4261449" cy="407166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Clustering with k = 10</a:t>
            </a:r>
            <a:endParaRPr lang="en-IN" dirty="0">
              <a:solidFill>
                <a:schemeClr val="tx1"/>
              </a:solidFill>
            </a:endParaRPr>
          </a:p>
          <a:p>
            <a:pPr lvl="0"/>
            <a:r>
              <a:rPr lang="en-IN" dirty="0">
                <a:solidFill>
                  <a:schemeClr val="tx1"/>
                </a:solidFill>
              </a:rPr>
              <a:t>The clusters begin to overlap more, and the boundaries between them become less distinct.</a:t>
            </a:r>
          </a:p>
          <a:p>
            <a:pPr lvl="0"/>
            <a:r>
              <a:rPr lang="en-IN" dirty="0">
                <a:solidFill>
                  <a:schemeClr val="tx1"/>
                </a:solidFill>
              </a:rPr>
              <a:t>Increasing k leads to finer partitions, but many clusters appear redundant or too close together.</a:t>
            </a:r>
          </a:p>
          <a:p>
            <a:pPr lvl="0"/>
            <a:r>
              <a:rPr lang="en-IN" dirty="0">
                <a:solidFill>
                  <a:schemeClr val="tx1"/>
                </a:solidFill>
              </a:rPr>
              <a:t>Some central clusters may represent over-splitting of broader categories.</a:t>
            </a:r>
          </a:p>
          <a:p>
            <a:pPr algn="ctr"/>
            <a:endParaRPr lang="en-IN" dirty="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971909" y="1276709"/>
            <a:ext cx="5486400" cy="3482340"/>
          </a:xfrm>
          <a:prstGeom prst="rect">
            <a:avLst/>
          </a:prstGeom>
        </p:spPr>
      </p:pic>
    </p:spTree>
    <p:extLst>
      <p:ext uri="{BB962C8B-B14F-4D97-AF65-F5344CB8AC3E}">
        <p14:creationId xmlns:p14="http://schemas.microsoft.com/office/powerpoint/2010/main" val="32629433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885646" y="1250830"/>
            <a:ext cx="5187350" cy="4304581"/>
          </a:xfrm>
          <a:prstGeom prst="rect">
            <a:avLst/>
          </a:prstGeom>
        </p:spPr>
      </p:pic>
      <p:sp>
        <p:nvSpPr>
          <p:cNvPr id="3" name="Rectangle 2"/>
          <p:cNvSpPr/>
          <p:nvPr/>
        </p:nvSpPr>
        <p:spPr>
          <a:xfrm>
            <a:off x="6072996" y="819509"/>
            <a:ext cx="5382883" cy="529661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Clustering with k = 15</a:t>
            </a:r>
            <a:endParaRPr lang="en-IN" dirty="0">
              <a:solidFill>
                <a:schemeClr val="tx1"/>
              </a:solidFill>
            </a:endParaRPr>
          </a:p>
          <a:p>
            <a:pPr lvl="0"/>
            <a:r>
              <a:rPr lang="en-IN" dirty="0">
                <a:solidFill>
                  <a:schemeClr val="tx1"/>
                </a:solidFill>
              </a:rPr>
              <a:t>Over-segmentation is more evident; many clusters occupy similar areas in PCA space.</a:t>
            </a:r>
          </a:p>
          <a:p>
            <a:pPr lvl="0"/>
            <a:r>
              <a:rPr lang="en-IN" dirty="0">
                <a:solidFill>
                  <a:schemeClr val="tx1"/>
                </a:solidFill>
              </a:rPr>
              <a:t>This higher k value introduces noise, potentially capturing minor variations rather than meaningful patterns.</a:t>
            </a:r>
          </a:p>
          <a:p>
            <a:pPr lvl="0"/>
            <a:r>
              <a:rPr lang="en-IN" dirty="0">
                <a:solidFill>
                  <a:schemeClr val="tx1"/>
                </a:solidFill>
              </a:rPr>
              <a:t>Useful only if the goal is to identify highly granular subpopulations for further analysis, otherwise not ideal</a:t>
            </a:r>
          </a:p>
          <a:p>
            <a:r>
              <a:rPr lang="en-IN" b="1" dirty="0">
                <a:solidFill>
                  <a:schemeClr val="tx1"/>
                </a:solidFill>
              </a:rPr>
              <a:t>General Observation:-</a:t>
            </a:r>
            <a:endParaRPr lang="en-IN" dirty="0">
              <a:solidFill>
                <a:schemeClr val="tx1"/>
              </a:solidFill>
            </a:endParaRPr>
          </a:p>
          <a:p>
            <a:pPr lvl="0"/>
            <a:r>
              <a:rPr lang="en-IN" dirty="0">
                <a:solidFill>
                  <a:schemeClr val="tx1"/>
                </a:solidFill>
              </a:rPr>
              <a:t>Best k visually appears to be around 5, as it strikes a balance between separation and interpretability.</a:t>
            </a:r>
          </a:p>
          <a:p>
            <a:pPr lvl="0"/>
            <a:r>
              <a:rPr lang="en-IN" dirty="0">
                <a:solidFill>
                  <a:schemeClr val="tx1"/>
                </a:solidFill>
              </a:rPr>
              <a:t>As k increases, the clarity of groupings decreases, which may reduce the usefulness of clusters for practical classification.</a:t>
            </a:r>
          </a:p>
          <a:p>
            <a:pPr lvl="0"/>
            <a:r>
              <a:rPr lang="en-IN" dirty="0">
                <a:solidFill>
                  <a:schemeClr val="tx1"/>
                </a:solidFill>
              </a:rPr>
              <a:t>This clustering validates that there is latent structure in the data, but it doesn’t directly align with the original 3-class labels — confirming that unsupervised learning reveals more nuanced patterns than those captured in the </a:t>
            </a:r>
            <a:r>
              <a:rPr lang="en-IN" dirty="0" err="1">
                <a:solidFill>
                  <a:schemeClr val="tx1"/>
                </a:solidFill>
              </a:rPr>
              <a:t>labeled</a:t>
            </a:r>
            <a:r>
              <a:rPr lang="en-IN" dirty="0">
                <a:solidFill>
                  <a:schemeClr val="tx1"/>
                </a:solidFill>
              </a:rPr>
              <a:t> classes.</a:t>
            </a:r>
          </a:p>
          <a:p>
            <a:pPr algn="ctr"/>
            <a:endParaRPr lang="en-IN" dirty="0"/>
          </a:p>
        </p:txBody>
      </p:sp>
    </p:spTree>
    <p:extLst>
      <p:ext uri="{BB962C8B-B14F-4D97-AF65-F5344CB8AC3E}">
        <p14:creationId xmlns:p14="http://schemas.microsoft.com/office/powerpoint/2010/main" val="153174536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8800" dirty="0" smtClean="0"/>
              <a:t>Conclusion</a:t>
            </a:r>
            <a:endParaRPr lang="en-IN" sz="8800" dirty="0"/>
          </a:p>
        </p:txBody>
      </p:sp>
      <p:sp>
        <p:nvSpPr>
          <p:cNvPr id="3" name="Content Placeholder 2"/>
          <p:cNvSpPr>
            <a:spLocks noGrp="1"/>
          </p:cNvSpPr>
          <p:nvPr>
            <p:ph idx="1"/>
          </p:nvPr>
        </p:nvSpPr>
        <p:spPr/>
        <p:txBody>
          <a:bodyPr>
            <a:normAutofit fontScale="85000" lnSpcReduction="10000"/>
          </a:bodyPr>
          <a:lstStyle/>
          <a:p>
            <a:pPr lvl="0"/>
            <a:r>
              <a:rPr lang="en-US" dirty="0" smtClean="0"/>
              <a:t>In this project, I designed  </a:t>
            </a:r>
            <a:r>
              <a:rPr lang="en-US" dirty="0"/>
              <a:t>machine learning-based system to classify fetal health using </a:t>
            </a:r>
            <a:r>
              <a:rPr lang="en-US" dirty="0" err="1"/>
              <a:t>Cardiotocogram</a:t>
            </a:r>
            <a:r>
              <a:rPr lang="en-US" dirty="0"/>
              <a:t> (CTG) data. Models like Random Forest, Logistic Regression, and </a:t>
            </a:r>
            <a:r>
              <a:rPr lang="en-US" dirty="0" err="1"/>
              <a:t>XGBoost</a:t>
            </a:r>
            <a:r>
              <a:rPr lang="en-US" dirty="0"/>
              <a:t> were trained, with Random Forest achieving the </a:t>
            </a:r>
            <a:r>
              <a:rPr lang="en-US" dirty="0" smtClean="0"/>
              <a:t>best performance across all the metrics </a:t>
            </a:r>
            <a:r>
              <a:rPr lang="en-IN" dirty="0">
                <a:solidFill>
                  <a:schemeClr val="tx1"/>
                </a:solidFill>
              </a:rPr>
              <a:t>ROC AUC: 0.9785, F1 Score: 0.9276, PR AUC: </a:t>
            </a:r>
            <a:r>
              <a:rPr lang="en-IN" dirty="0" smtClean="0">
                <a:solidFill>
                  <a:schemeClr val="tx1"/>
                </a:solidFill>
              </a:rPr>
              <a:t>0.9361</a:t>
            </a:r>
            <a:r>
              <a:rPr lang="en-US" dirty="0" smtClean="0"/>
              <a:t>.</a:t>
            </a:r>
            <a:endParaRPr lang="en-US" dirty="0"/>
          </a:p>
          <a:p>
            <a:r>
              <a:rPr lang="en-US" dirty="0"/>
              <a:t>To improve performance, we applied </a:t>
            </a:r>
            <a:r>
              <a:rPr lang="en-US" b="1" dirty="0"/>
              <a:t>SMOTE</a:t>
            </a:r>
            <a:r>
              <a:rPr lang="en-US" dirty="0"/>
              <a:t> for class balancing and selected the </a:t>
            </a:r>
            <a:r>
              <a:rPr lang="en-US" b="1" dirty="0"/>
              <a:t>top 10 features</a:t>
            </a:r>
            <a:r>
              <a:rPr lang="en-US" dirty="0"/>
              <a:t> using correlation analysis. </a:t>
            </a:r>
            <a:r>
              <a:rPr lang="en-US" b="1" dirty="0"/>
              <a:t>Clustering with K-Means</a:t>
            </a:r>
            <a:r>
              <a:rPr lang="en-US" dirty="0"/>
              <a:t> and </a:t>
            </a:r>
            <a:r>
              <a:rPr lang="en-US" b="1" dirty="0"/>
              <a:t>PCA visualization</a:t>
            </a:r>
            <a:r>
              <a:rPr lang="en-US" dirty="0"/>
              <a:t> further revealed hidden patterns in the data.</a:t>
            </a:r>
          </a:p>
          <a:p>
            <a:r>
              <a:rPr lang="en-US" dirty="0"/>
              <a:t>The results demonstrate that machine learning can effectively support fetal health assessment, enabling early intervention and contributing to the reduction of maternal and child mortality, especially in low-resource settings.</a:t>
            </a:r>
          </a:p>
          <a:p>
            <a:endParaRPr lang="en-IN" dirty="0"/>
          </a:p>
        </p:txBody>
      </p:sp>
    </p:spTree>
    <p:extLst>
      <p:ext uri="{BB962C8B-B14F-4D97-AF65-F5344CB8AC3E}">
        <p14:creationId xmlns:p14="http://schemas.microsoft.com/office/powerpoint/2010/main" val="76146863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511" y="3069725"/>
            <a:ext cx="9601196" cy="1303867"/>
          </a:xfrm>
        </p:spPr>
        <p:txBody>
          <a:bodyPr>
            <a:noAutofit/>
          </a:bodyPr>
          <a:lstStyle/>
          <a:p>
            <a:r>
              <a:rPr lang="en-US" sz="9600" b="1" dirty="0" smtClean="0"/>
              <a:t>Thank You!!!!!</a:t>
            </a:r>
            <a:endParaRPr lang="en-IN" sz="9600" b="1" dirty="0"/>
          </a:p>
        </p:txBody>
      </p:sp>
    </p:spTree>
    <p:extLst>
      <p:ext uri="{BB962C8B-B14F-4D97-AF65-F5344CB8AC3E}">
        <p14:creationId xmlns:p14="http://schemas.microsoft.com/office/powerpoint/2010/main" val="303913651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148</TotalTime>
  <Words>1581</Words>
  <Application>Microsoft Office PowerPoint</Application>
  <PresentationFormat>Widescreen</PresentationFormat>
  <Paragraphs>164</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Garamond</vt:lpstr>
      <vt:lpstr>Times New Roman</vt:lpstr>
      <vt:lpstr>Organic</vt:lpstr>
      <vt:lpstr>Fetal Health Classification using Cardiotocogram (CTG) Data</vt:lpstr>
      <vt:lpstr>Problem Statement</vt:lpstr>
      <vt:lpstr>Data Mining Task</vt:lpstr>
      <vt:lpstr>How Did You Solve Each Task ?</vt:lpstr>
      <vt:lpstr>PowerPoint Presentation</vt:lpstr>
      <vt:lpstr>Let’s now go through the code</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Fetal Health Classification using Cardiotocogram (CTG) Data</dc:title>
  <dc:creator>HP</dc:creator>
  <cp:lastModifiedBy>HP</cp:lastModifiedBy>
  <cp:revision>11</cp:revision>
  <dcterms:created xsi:type="dcterms:W3CDTF">2025-05-02T01:03:55Z</dcterms:created>
  <dcterms:modified xsi:type="dcterms:W3CDTF">2025-05-04T03:45:13Z</dcterms:modified>
</cp:coreProperties>
</file>